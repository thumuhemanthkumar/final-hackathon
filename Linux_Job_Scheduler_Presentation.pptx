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803bb2b-493b-dea9-93be-10306e0b32eb}">
          <p14:sldIdLst>
            <p14:sldId id="256"/>
            <p14:sldId id="257"/>
            <p14:sldId id="258"/>
            <p14:sldId id="259"/>
            <p14:sldId id="260"/>
          </p14:sldIdLst>
        </p14:section>
        <p14:section name="Design" id="{fe54e142-5ed0-ca53-98d0-350229cc6d11}">
          <p14:sldIdLst>
            <p14:sldId id="261"/>
            <p14:sldId id="262"/>
            <p14:sldId id="263"/>
          </p14:sldIdLst>
        </p14:section>
        <p14:section name="Implementation" id="{7c82e3d4-356c-9bec-6e29-3e46e6bece87}">
          <p14:sldIdLst>
            <p14:sldId id="264"/>
            <p14:sldId id="265"/>
            <p14:sldId id="266"/>
          </p14:sldIdLst>
        </p14:section>
        <p14:section name="Evaluation" id="{4a6774de-32ac-e495-f469-6948a11caf4b}">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the department, the guide and the team. The project is a mini cron/at style job scheduler written in C for 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and guide details as provided. Roles within the team are not listed because they were not specified. Add them here if your guide expects a work-division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Stats are taken directly from the source: jobsched.c is 417 lines (wc -l) and exposes 8 commands in main(). The program includes only standard C and POSIX/Linux headers.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automation of routine tasks, plus the educational goal of seeing OS process-management concepts working in one real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scope: dependencies, retries and timeouts are NOT in the current code; they appear later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cron and at behaviour is standard Linux knowledge. The proposed column describes only what the code does. Stress the honest trade-off: this tool is simpler and educational, not more powerful than cron.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the CLI only edits the job table (under a lock). The daemon polls the table, forks a child for each due job, and the child's output and the exit status go to the log. stop and status use the PID file written by the daemon.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 names are exactly those in jobsched.c. The code was compiled and tested with gcc 13.3 on Ubuntu 24.04.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in the viva: this is a time-based job scheduler (like cron). It does not implement CPU-scheduling algorithms such as round-robin or priority scheduling; those are listed as possible extensions. When several jobs are due in the same tick, the loop forks them in table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what is built from what is not. Dependencies, retries and timeouts are not implemented. Failure handling today means recording the exit status (or killing signal) in the log; the job is not retried.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Genuine output captured by running the compiled program (full capture saved as demo_output.txt). Note the log interleaves child output with scheduler messages, because the child writes directly to the same file. For the live demo, run the same commands in an Ubuntu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results come from one real test run (demo_output.txt). We did not measure scheduling accuracy beyond the 1-second polling interval, memory use, or behaviour with many jobs, so do not claim any performance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are read from the source (1-second sleep, MAX_JOBS = 128, no dependency/retry/timeout fields in the Job struct). Future items are proposals only; none exist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project meets its objective of scheduling commands for automatic execution and demonstrates process management. Be clear that dependency handling, retries and timeouts are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list is standard OS and Linux material; verify edition or year details against your own copies before submission. Possible viva topics: fork vs exec, zombie processes, why flock, what setsid does, difference from cron.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FFFFFF"/>
        </a:solidFill>
      </p:bgPr>
    </p:bg>
    <p:spTree>
      <p:nvGrpSpPr>
        <p:cNvPr id="1" name=""/>
        <p:cNvGrpSpPr/>
        <p:nvPr/>
      </p:nvGrpSpPr>
      <p:grpSpPr>
        <a:xfrm>
          <a:off x="0" y="0"/>
          <a:ext cx="0" cy="0"/>
          <a:chOff x="0" y="0"/>
          <a:chExt cx="0" cy="0"/>
        </a:xfrm>
      </p:grpSpPr>
      <p:sp>
        <p:nvSpPr>
          <p:cNvPr id="2" name="Dark background"/>
          <p:cNvSpPr/>
          <p:nvPr/>
        </p:nvSpPr>
        <p:spPr>
          <a:xfrm>
            <a:off x="0" y="0"/>
            <a:ext cx="12188952" cy="6858000"/>
          </a:xfrm>
          <a:prstGeom prst="rect">
            <a:avLst/>
          </a:prstGeom>
          <a:solidFill>
            <a:schemeClr val="tx2"/>
          </a:solidFill>
          <a:ln/>
        </p:spPr>
      </p:sp>
      <p:sp>
        <p:nvSpPr>
          <p:cNvPr id="3" name="Logo backing"/>
          <p:cNvSpPr/>
          <p:nvPr/>
        </p:nvSpPr>
        <p:spPr>
          <a:xfrm>
            <a:off x="10040112" y="292608"/>
            <a:ext cx="1819656" cy="795528"/>
          </a:xfrm>
          <a:prstGeom prst="rect">
            <a:avLst/>
          </a:prstGeom>
          <a:solidFill>
            <a:schemeClr val="bg1"/>
          </a:solidFill>
          <a:ln/>
        </p:spPr>
      </p:sp>
      <p:pic>
        <p:nvPicPr>
          <p:cNvPr id="4" name="KLH logo" descr="/home/claude/deck/klh_logo.png">    </p:cNvPr>
          <p:cNvPicPr>
            <a:picLocks noChangeAspect="1"/>
          </p:cNvPicPr>
          <p:nvPr/>
        </p:nvPicPr>
        <p:blipFill>
          <a:blip r:embed="rId1"/>
          <a:stretch>
            <a:fillRect/>
          </a:stretch>
        </p:blipFill>
        <p:spPr>
          <a:xfrm>
            <a:off x="10149840" y="365760"/>
            <a:ext cx="1600200" cy="651967"/>
          </a:xfrm>
          <a:prstGeom prst="rect">
            <a:avLst/>
          </a:prstGeom>
        </p:spPr>
      </p:pic>
      <p:sp>
        <p:nvSpPr>
          <p:cNvPr id="5" name="Footer"/>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chemeClr val="bg2"/>
                </a:solidFill>
              </a:rPr>
              <a:t>Linux Job Scheduler and Task Automation System  |  KLH Bachupally Campus  |  Dept. of AI &amp; Data Science</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Logo backing"/>
          <p:cNvSpPr/>
          <p:nvPr/>
        </p:nvSpPr>
        <p:spPr>
          <a:xfrm>
            <a:off x="10040112" y="246888"/>
            <a:ext cx="1819656" cy="795528"/>
          </a:xfrm>
          <a:prstGeom prst="rect">
            <a:avLst/>
          </a:prstGeom>
          <a:solidFill>
            <a:schemeClr val="bg1"/>
          </a:solidFill>
          <a:ln/>
        </p:spPr>
      </p:sp>
      <p:pic>
        <p:nvPicPr>
          <p:cNvPr id="3" name="KLH logo" descr="/home/claude/deck/klh_logo.png">    </p:cNvPr>
          <p:cNvPicPr>
            <a:picLocks noChangeAspect="1"/>
          </p:cNvPicPr>
          <p:nvPr/>
        </p:nvPicPr>
        <p:blipFill>
          <a:blip r:embed="rId1"/>
          <a:stretch>
            <a:fillRect/>
          </a:stretch>
        </p:blipFill>
        <p:spPr>
          <a:xfrm>
            <a:off x="10149840" y="320040"/>
            <a:ext cx="1600200" cy="651967"/>
          </a:xfrm>
          <a:prstGeom prst="rect">
            <a:avLst/>
          </a:prstGeom>
        </p:spPr>
      </p:pic>
      <p:sp>
        <p:nvSpPr>
          <p:cNvPr id="4" name="Footer"/>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chemeClr val="accent4"/>
                </a:solidFill>
              </a:rPr>
              <a:t>Linux Job Scheduler and Task Automation System  |  KLH Bachupally Campus  |  Dept. of AI &amp; Data Science</a:t>
            </a:r>
            <a:endParaRPr lang="en-US" sz="1000" dirty="0"/>
          </a:p>
        </p:txBody>
      </p:sp>
      <p:sp>
        <p:nvSpPr>
          <p:cNvPr id="5" name="Text 2"/>
          <p:cNvSpPr/>
          <p:nvPr>
            <p:ph idx="104" type="title" hasCustomPrompt="1"/>
          </p:nvPr>
        </p:nvSpPr>
        <p:spPr>
          <a:xfrm>
            <a:off x="548640" y="365760"/>
            <a:ext cx="9326880"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r>
              <a:rPr lang="en-US" sz="3400" b="1" dirty="0">
                <a:solidFill>
                  <a:schemeClr val="tx2"/>
                </a:solidFill>
              </a:rPr>
              <a:t>Title</a:t>
            </a: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FFFFFF"/>
        </a:solidFill>
      </p:bgPr>
    </p:bg>
    <p:spTree>
      <p:nvGrpSpPr>
        <p:cNvPr id="1" name=""/>
        <p:cNvGrpSpPr/>
        <p:nvPr/>
      </p:nvGrpSpPr>
      <p:grpSpPr>
        <a:xfrm>
          <a:off x="0" y="0"/>
          <a:ext cx="0" cy="0"/>
          <a:chOff x="0" y="0"/>
          <a:chExt cx="0" cy="0"/>
        </a:xfrm>
      </p:grpSpPr>
      <p:sp>
        <p:nvSpPr>
          <p:cNvPr id="2" name="Dark background"/>
          <p:cNvSpPr/>
          <p:nvPr/>
        </p:nvSpPr>
        <p:spPr>
          <a:xfrm>
            <a:off x="0" y="0"/>
            <a:ext cx="12188952" cy="6858000"/>
          </a:xfrm>
          <a:prstGeom prst="rect">
            <a:avLst/>
          </a:prstGeom>
          <a:solidFill>
            <a:schemeClr val="tx2"/>
          </a:solidFill>
          <a:ln/>
        </p:spPr>
      </p:sp>
      <p:sp>
        <p:nvSpPr>
          <p:cNvPr id="3" name="Logo backing"/>
          <p:cNvSpPr/>
          <p:nvPr/>
        </p:nvSpPr>
        <p:spPr>
          <a:xfrm>
            <a:off x="10040112" y="246888"/>
            <a:ext cx="1819656" cy="795528"/>
          </a:xfrm>
          <a:prstGeom prst="rect">
            <a:avLst/>
          </a:prstGeom>
          <a:solidFill>
            <a:schemeClr val="bg1"/>
          </a:solidFill>
          <a:ln/>
        </p:spPr>
      </p:sp>
      <p:pic>
        <p:nvPicPr>
          <p:cNvPr id="4" name="KLH logo" descr="/home/claude/deck/klh_logo.png">    </p:cNvPr>
          <p:cNvPicPr>
            <a:picLocks noChangeAspect="1"/>
          </p:cNvPicPr>
          <p:nvPr/>
        </p:nvPicPr>
        <p:blipFill>
          <a:blip r:embed="rId1"/>
          <a:stretch>
            <a:fillRect/>
          </a:stretch>
        </p:blipFill>
        <p:spPr>
          <a:xfrm>
            <a:off x="10149840" y="320040"/>
            <a:ext cx="1600200" cy="651967"/>
          </a:xfrm>
          <a:prstGeom prst="rect">
            <a:avLst/>
          </a:prstGeom>
        </p:spPr>
      </p:pic>
      <p:sp>
        <p:nvSpPr>
          <p:cNvPr id="5" name="Footer"/>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chemeClr val="bg2"/>
                </a:solidFill>
              </a:rPr>
              <a:t>Linux Job Scheduler and Task Automation System  |  KLH Bachupally Campus  |  Dept. of AI &amp; Data Science</a:t>
            </a:r>
            <a:endParaRPr lang="en-US" sz="1000" dirty="0"/>
          </a:p>
        </p:txBody>
      </p:sp>
      <p:sp>
        <p:nvSpPr>
          <p:cNvPr id="6" name="Text 3"/>
          <p:cNvSpPr/>
          <p:nvPr>
            <p:ph idx="105" type="title" hasCustomPrompt="1"/>
          </p:nvPr>
        </p:nvSpPr>
        <p:spPr>
          <a:xfrm>
            <a:off x="548640" y="365760"/>
            <a:ext cx="932688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r>
              <a:rPr lang="en-US" sz="3400" b="1" dirty="0">
                <a:solidFill>
                  <a:schemeClr val="bg1"/>
                </a:solidFill>
              </a:rPr>
              <a:t>Title</a:t>
            </a: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325880"/>
            <a:ext cx="9144000" cy="320040"/>
          </a:xfrm>
          <a:prstGeom prst="rect">
            <a:avLst/>
          </a:prstGeom>
          <a:noFill/>
          <a:ln/>
        </p:spPr>
        <p:txBody>
          <a:bodyPr wrap="square" lIns="0" tIns="0" rIns="0" bIns="0" rtlCol="0" anchor="t"/>
          <a:lstStyle/>
          <a:p>
            <a:pPr indent="0" marL="0">
              <a:buNone/>
            </a:pPr>
            <a:r>
              <a:rPr lang="en-US" sz="1400" b="1" dirty="0">
                <a:solidFill>
                  <a:schemeClr val="accent2"/>
                </a:solidFill>
              </a:rPr>
              <a:t>KLH BACHUPALLY CAMPUS  ·  DEPARTMENT OF ARTIFICIAL INTELLIGENCE AND DATA SCIENCE</a:t>
            </a:r>
            <a:endParaRPr lang="en-US" sz="1400" dirty="0"/>
          </a:p>
        </p:txBody>
      </p:sp>
      <p:sp>
        <p:nvSpPr>
          <p:cNvPr id="3" name="Text 1"/>
          <p:cNvSpPr txBox="1"/>
          <p:nvPr/>
        </p:nvSpPr>
        <p:spPr>
          <a:xfrm>
            <a:off x="731520" y="1828800"/>
            <a:ext cx="6949440" cy="182880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Linux Job Scheduler and Task Automation System</a:t>
            </a:r>
            <a:endParaRPr lang="en-US" sz="4400" dirty="0"/>
          </a:p>
        </p:txBody>
      </p:sp>
      <p:sp>
        <p:nvSpPr>
          <p:cNvPr id="4" name="Text 2"/>
          <p:cNvSpPr txBox="1"/>
          <p:nvPr/>
        </p:nvSpPr>
        <p:spPr>
          <a:xfrm>
            <a:off x="731520" y="3794760"/>
            <a:ext cx="6949440" cy="365760"/>
          </a:xfrm>
          <a:prstGeom prst="rect">
            <a:avLst/>
          </a:prstGeom>
          <a:noFill/>
          <a:ln/>
        </p:spPr>
        <p:txBody>
          <a:bodyPr wrap="square" lIns="0" tIns="0" rIns="0" bIns="0" rtlCol="0" anchor="t"/>
          <a:lstStyle/>
          <a:p>
            <a:pPr indent="0" marL="0">
              <a:buNone/>
            </a:pPr>
            <a:r>
              <a:rPr lang="en-US" sz="1800" dirty="0">
                <a:solidFill>
                  <a:schemeClr val="bg2"/>
                </a:solidFill>
              </a:rPr>
              <a:t>Operating Systems project  ·  Implemented in C for Linux/Ubuntu</a:t>
            </a:r>
            <a:endParaRPr lang="en-US" sz="1800" dirty="0"/>
          </a:p>
        </p:txBody>
      </p:sp>
      <p:sp>
        <p:nvSpPr>
          <p:cNvPr id="5" name="Text 3"/>
          <p:cNvSpPr txBox="1"/>
          <p:nvPr/>
        </p:nvSpPr>
        <p:spPr>
          <a:xfrm>
            <a:off x="731520" y="5029200"/>
            <a:ext cx="10058400" cy="822960"/>
          </a:xfrm>
          <a:prstGeom prst="rect">
            <a:avLst/>
          </a:prstGeom>
          <a:noFill/>
          <a:ln/>
        </p:spPr>
        <p:txBody>
          <a:bodyPr wrap="square" lIns="0" tIns="0" rIns="0" bIns="0" rtlCol="0" anchor="t"/>
          <a:lstStyle/>
          <a:p>
            <a:pPr indent="0" marL="0">
              <a:spcAft>
                <a:spcPts val="600"/>
              </a:spcAft>
              <a:buNone/>
            </a:pPr>
            <a:r>
              <a:rPr lang="en-US" sz="1600" b="1" dirty="0">
                <a:solidFill>
                  <a:schemeClr val="accent2"/>
                </a:solidFill>
              </a:rPr>
              <a:t>Guide: </a:t>
            </a:r>
            <a:pPr indent="0" marL="0">
              <a:spcAft>
                <a:spcPts val="600"/>
              </a:spcAft>
              <a:buNone/>
            </a:pPr>
            <a:r>
              <a:rPr lang="en-US" sz="1600" dirty="0">
                <a:solidFill>
                  <a:schemeClr val="bg1"/>
                </a:solidFill>
              </a:rPr>
              <a:t>Dr. Alekhya</a:t>
            </a:r>
            <a:endParaRPr lang="en-US" sz="1600" dirty="0"/>
          </a:p>
          <a:p>
            <a:pPr indent="0" marL="0">
              <a:spcAft>
                <a:spcPts val="600"/>
              </a:spcAft>
              <a:buNone/>
            </a:pPr>
            <a:r>
              <a:rPr lang="en-US" sz="1600" b="1" dirty="0">
                <a:solidFill>
                  <a:schemeClr val="accent2"/>
                </a:solidFill>
              </a:rPr>
              <a:t>Team: </a:t>
            </a:r>
            <a:pPr indent="0" marL="0">
              <a:spcAft>
                <a:spcPts val="600"/>
              </a:spcAft>
              <a:buNone/>
            </a:pPr>
            <a:r>
              <a:rPr lang="en-US" sz="1600" dirty="0">
                <a:solidFill>
                  <a:schemeClr val="bg1"/>
                </a:solidFill>
              </a:rPr>
              <a:t>2520080017 Prajwal  ·  2520080021 Kavi  ·  2520090074 Hemanth</a:t>
            </a:r>
            <a:endParaRPr lang="en-US" sz="1600" dirty="0"/>
          </a:p>
        </p:txBody>
      </p:sp>
      <p:sp>
        <p:nvSpPr>
          <p:cNvPr id="6" name="Terminal motif"/>
          <p:cNvSpPr/>
          <p:nvPr/>
        </p:nvSpPr>
        <p:spPr>
          <a:xfrm>
            <a:off x="8001000" y="2011680"/>
            <a:ext cx="3611880" cy="2011680"/>
          </a:xfrm>
          <a:prstGeom prst="roundRect">
            <a:avLst>
              <a:gd name="adj" fmla="val 4545"/>
            </a:avLst>
          </a:prstGeom>
          <a:solidFill>
            <a:schemeClr val="tx1"/>
          </a:solidFill>
          <a:ln/>
        </p:spPr>
      </p:sp>
      <p:sp>
        <p:nvSpPr>
          <p:cNvPr id="7" name="Text 5"/>
          <p:cNvSpPr txBox="1"/>
          <p:nvPr/>
        </p:nvSpPr>
        <p:spPr>
          <a:xfrm>
            <a:off x="8229600" y="2240280"/>
            <a:ext cx="3200400" cy="1645920"/>
          </a:xfrm>
          <a:prstGeom prst="rect">
            <a:avLst/>
          </a:prstGeom>
          <a:noFill/>
          <a:ln/>
        </p:spPr>
        <p:txBody>
          <a:bodyPr wrap="square" lIns="0" tIns="0" rIns="0" bIns="0" rtlCol="0" anchor="t"/>
          <a:lstStyle/>
          <a:p>
            <a:pPr indent="0" marL="0">
              <a:buNone/>
            </a:pPr>
            <a:r>
              <a:rPr lang="en-US" sz="1300" dirty="0">
                <a:solidFill>
                  <a:schemeClr val="accent2"/>
                </a:solidFill>
                <a:latin typeface="Courier New" pitchFamily="34" charset="0"/>
                <a:ea typeface="Courier New" pitchFamily="34" charset="-122"/>
                <a:cs typeface="Courier New" pitchFamily="34" charset="-120"/>
              </a:rPr>
              <a:t>$ ./jobsched start</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Scheduler started.</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 ./jobsched add +10s</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    "echo hi"</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Job #1 scheduled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txBox="1"/>
          <p:nvPr>
            <p:ph idx="104" type="title" hasCustomPrompt="1"/>
          </p:nvPr>
        </p:nvSpPr>
        <p:spPr>
          <a:xfrm>
            <a:off x="548640" y="365760"/>
            <a:ext cx="9326880" cy="731520"/>
          </a:xfrm>
          <a:prstGeom prst="rect">
            <a:avLst/>
          </a:prstGeom>
          <a:noFill/>
          <a:ln/>
        </p:spPr>
        <p:txBody>
          <a:bodyPr wrap="square" lIns="0" tIns="0" rIns="0" bIns="0" rtlCol="0" anchor="ctr"/>
          <a:lstStyle/>
          <a:p>
            <a:pPr algn="l" indent="0" marL="0">
              <a:buNone/>
            </a:pPr>
            <a:r>
              <a:rPr lang="en-US" sz="3400" b="1" dirty="0">
                <a:solidFill>
                  <a:schemeClr val="tx2"/>
                </a:solidFill>
              </a:rPr>
              <a:t>Team Members and Guide</a:t>
            </a:r>
            <a:endParaRPr lang="en-US" sz="3400" dirty="0"/>
          </a:p>
        </p:txBody>
      </p:sp>
      <p:sp>
        <p:nvSpPr>
          <p:cNvPr id="3" name="Guide card"/>
          <p:cNvSpPr/>
          <p:nvPr/>
        </p:nvSpPr>
        <p:spPr>
          <a:xfrm>
            <a:off x="548640" y="1371600"/>
            <a:ext cx="11091672" cy="1371600"/>
          </a:xfrm>
          <a:prstGeom prst="roundRect">
            <a:avLst>
              <a:gd name="adj" fmla="val 6667"/>
            </a:avLst>
          </a:prstGeom>
          <a:solidFill>
            <a:schemeClr val="bg2"/>
          </a:solidFill>
          <a:ln/>
        </p:spPr>
      </p:sp>
      <p:sp>
        <p:nvSpPr>
          <p:cNvPr id="4" name="Guide circle"/>
          <p:cNvSpPr/>
          <p:nvPr/>
        </p:nvSpPr>
        <p:spPr>
          <a:xfrm>
            <a:off x="822960" y="1691640"/>
            <a:ext cx="731520" cy="731520"/>
          </a:xfrm>
          <a:prstGeom prst="ellipse">
            <a:avLst/>
          </a:prstGeom>
          <a:solidFill>
            <a:schemeClr val="accent1"/>
          </a:solidFill>
          <a:ln/>
        </p:spPr>
      </p:sp>
      <p:pic>
        <p:nvPicPr>
          <p:cNvPr id="5" name="Guide image" descr="preencoded.png">    </p:cNvPr>
          <p:cNvPicPr>
            <a:picLocks noChangeAspect="1"/>
          </p:cNvPicPr>
          <p:nvPr/>
        </p:nvPicPr>
        <p:blipFill>
          <a:blip r:embed="rId1"/>
          <a:stretch>
            <a:fillRect/>
          </a:stretch>
        </p:blipFill>
        <p:spPr>
          <a:xfrm>
            <a:off x="1013155" y="1881835"/>
            <a:ext cx="351130" cy="351130"/>
          </a:xfrm>
          <a:prstGeom prst="rect">
            <a:avLst/>
          </a:prstGeom>
        </p:spPr>
      </p:pic>
      <p:sp>
        <p:nvSpPr>
          <p:cNvPr id="6" name="Text 3"/>
          <p:cNvSpPr txBox="1"/>
          <p:nvPr/>
        </p:nvSpPr>
        <p:spPr>
          <a:xfrm>
            <a:off x="1828800" y="1645920"/>
            <a:ext cx="5486400" cy="274320"/>
          </a:xfrm>
          <a:prstGeom prst="rect">
            <a:avLst/>
          </a:prstGeom>
          <a:noFill/>
          <a:ln/>
        </p:spPr>
        <p:txBody>
          <a:bodyPr wrap="square" lIns="0" tIns="0" rIns="0" bIns="0" rtlCol="0" anchor="t"/>
          <a:lstStyle/>
          <a:p>
            <a:pPr indent="0" marL="0">
              <a:buNone/>
            </a:pPr>
            <a:r>
              <a:rPr lang="en-US" sz="1400" b="1" dirty="0">
                <a:solidFill>
                  <a:schemeClr val="accent4"/>
                </a:solidFill>
              </a:rPr>
              <a:t>Project Guide</a:t>
            </a:r>
            <a:endParaRPr lang="en-US" sz="1400" dirty="0"/>
          </a:p>
        </p:txBody>
      </p:sp>
      <p:sp>
        <p:nvSpPr>
          <p:cNvPr id="7" name="Text 4"/>
          <p:cNvSpPr txBox="1"/>
          <p:nvPr/>
        </p:nvSpPr>
        <p:spPr>
          <a:xfrm>
            <a:off x="1828800" y="1920240"/>
            <a:ext cx="5486400" cy="45720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Dr. Alekhya</a:t>
            </a:r>
            <a:endParaRPr lang="en-US" sz="2600" dirty="0"/>
          </a:p>
        </p:txBody>
      </p:sp>
      <p:sp>
        <p:nvSpPr>
          <p:cNvPr id="8" name="Text 5"/>
          <p:cNvSpPr txBox="1"/>
          <p:nvPr/>
        </p:nvSpPr>
        <p:spPr>
          <a:xfrm>
            <a:off x="5669280" y="1874520"/>
            <a:ext cx="5669280" cy="548640"/>
          </a:xfrm>
          <a:prstGeom prst="rect">
            <a:avLst/>
          </a:prstGeom>
          <a:noFill/>
          <a:ln/>
        </p:spPr>
        <p:txBody>
          <a:bodyPr wrap="square" lIns="0" tIns="0" rIns="0" bIns="0" rtlCol="0" anchor="ctr"/>
          <a:lstStyle/>
          <a:p>
            <a:pPr algn="r" indent="0" marL="0">
              <a:buNone/>
            </a:pPr>
            <a:r>
              <a:rPr lang="en-US" sz="1400" dirty="0">
                <a:solidFill>
                  <a:schemeClr val="tx1"/>
                </a:solidFill>
              </a:rPr>
              <a:t>KLH Bachupally Campus  ·  Department of Artificial Intelligence and Data Science</a:t>
            </a:r>
            <a:endParaRPr lang="en-US" sz="1400" dirty="0"/>
          </a:p>
        </p:txBody>
      </p:sp>
      <p:sp>
        <p:nvSpPr>
          <p:cNvPr id="9" name="Member card Prajwal"/>
          <p:cNvSpPr/>
          <p:nvPr/>
        </p:nvSpPr>
        <p:spPr>
          <a:xfrm>
            <a:off x="548640" y="3108960"/>
            <a:ext cx="3575304" cy="2651760"/>
          </a:xfrm>
          <a:prstGeom prst="roundRect">
            <a:avLst>
              <a:gd name="adj" fmla="val 3448"/>
            </a:avLst>
          </a:prstGeom>
          <a:solidFill>
            <a:schemeClr val="bg2"/>
          </a:solidFill>
          <a:ln/>
        </p:spPr>
      </p:sp>
      <p:sp>
        <p:nvSpPr>
          <p:cNvPr id="10" name="Prajwal circle"/>
          <p:cNvSpPr/>
          <p:nvPr/>
        </p:nvSpPr>
        <p:spPr>
          <a:xfrm>
            <a:off x="1920240" y="3383280"/>
            <a:ext cx="822960" cy="822960"/>
          </a:xfrm>
          <a:prstGeom prst="ellipse">
            <a:avLst/>
          </a:prstGeom>
          <a:solidFill>
            <a:schemeClr val="accent1"/>
          </a:solidFill>
          <a:ln/>
        </p:spPr>
      </p:sp>
      <p:pic>
        <p:nvPicPr>
          <p:cNvPr id="11" name="Prajwal image" descr="preencoded.png">    </p:cNvPr>
          <p:cNvPicPr>
            <a:picLocks noChangeAspect="1"/>
          </p:cNvPicPr>
          <p:nvPr/>
        </p:nvPicPr>
        <p:blipFill>
          <a:blip r:embed="rId2"/>
          <a:stretch>
            <a:fillRect/>
          </a:stretch>
        </p:blipFill>
        <p:spPr>
          <a:xfrm>
            <a:off x="2134210" y="3597250"/>
            <a:ext cx="395021" cy="395021"/>
          </a:xfrm>
          <a:prstGeom prst="rect">
            <a:avLst/>
          </a:prstGeom>
        </p:spPr>
      </p:pic>
      <p:sp>
        <p:nvSpPr>
          <p:cNvPr id="12" name="Text 8"/>
          <p:cNvSpPr txBox="1"/>
          <p:nvPr/>
        </p:nvSpPr>
        <p:spPr>
          <a:xfrm>
            <a:off x="731520" y="4434840"/>
            <a:ext cx="3209544" cy="457200"/>
          </a:xfrm>
          <a:prstGeom prst="rect">
            <a:avLst/>
          </a:prstGeom>
          <a:noFill/>
          <a:ln/>
        </p:spPr>
        <p:txBody>
          <a:bodyPr wrap="square" lIns="0" tIns="0" rIns="0" bIns="0" rtlCol="0" anchor="t"/>
          <a:lstStyle/>
          <a:p>
            <a:pPr algn="ctr" indent="0" marL="0">
              <a:buNone/>
            </a:pPr>
            <a:r>
              <a:rPr lang="en-US" sz="2400" b="1" dirty="0">
                <a:solidFill>
                  <a:schemeClr val="tx2"/>
                </a:solidFill>
                <a:latin typeface="Cambria" pitchFamily="34" charset="0"/>
                <a:ea typeface="Cambria" pitchFamily="34" charset="-122"/>
                <a:cs typeface="Cambria" pitchFamily="34" charset="-120"/>
              </a:rPr>
              <a:t>Prajwal</a:t>
            </a:r>
            <a:endParaRPr lang="en-US" sz="2400" dirty="0"/>
          </a:p>
        </p:txBody>
      </p:sp>
      <p:sp>
        <p:nvSpPr>
          <p:cNvPr id="13" name="Text 9"/>
          <p:cNvSpPr txBox="1"/>
          <p:nvPr/>
        </p:nvSpPr>
        <p:spPr>
          <a:xfrm>
            <a:off x="731520" y="4983480"/>
            <a:ext cx="3209544" cy="365760"/>
          </a:xfrm>
          <a:prstGeom prst="rect">
            <a:avLst/>
          </a:prstGeom>
          <a:noFill/>
          <a:ln/>
        </p:spPr>
        <p:txBody>
          <a:bodyPr wrap="square" lIns="0" tIns="0" rIns="0" bIns="0" rtlCol="0" anchor="t"/>
          <a:lstStyle/>
          <a:p>
            <a:pPr algn="ctr" indent="0" marL="0">
              <a:buNone/>
            </a:pPr>
            <a:r>
              <a:rPr lang="en-US" sz="1800" b="1" dirty="0">
                <a:solidFill>
                  <a:schemeClr val="accent1"/>
                </a:solidFill>
              </a:rPr>
              <a:t>2520080017</a:t>
            </a:r>
            <a:endParaRPr lang="en-US" sz="1800" dirty="0"/>
          </a:p>
        </p:txBody>
      </p:sp>
      <p:sp>
        <p:nvSpPr>
          <p:cNvPr id="14" name="Member card Kavi"/>
          <p:cNvSpPr/>
          <p:nvPr/>
        </p:nvSpPr>
        <p:spPr>
          <a:xfrm>
            <a:off x="4306824" y="3108960"/>
            <a:ext cx="3575304" cy="2651760"/>
          </a:xfrm>
          <a:prstGeom prst="roundRect">
            <a:avLst>
              <a:gd name="adj" fmla="val 3448"/>
            </a:avLst>
          </a:prstGeom>
          <a:solidFill>
            <a:schemeClr val="bg2"/>
          </a:solidFill>
          <a:ln/>
        </p:spPr>
      </p:sp>
      <p:sp>
        <p:nvSpPr>
          <p:cNvPr id="15" name="Kavi circle"/>
          <p:cNvSpPr/>
          <p:nvPr/>
        </p:nvSpPr>
        <p:spPr>
          <a:xfrm>
            <a:off x="5678424" y="3383280"/>
            <a:ext cx="822960" cy="822960"/>
          </a:xfrm>
          <a:prstGeom prst="ellipse">
            <a:avLst/>
          </a:prstGeom>
          <a:solidFill>
            <a:schemeClr val="accent1"/>
          </a:solidFill>
          <a:ln/>
        </p:spPr>
      </p:sp>
      <p:pic>
        <p:nvPicPr>
          <p:cNvPr id="16" name="Kavi image" descr="preencoded.png">    </p:cNvPr>
          <p:cNvPicPr>
            <a:picLocks noChangeAspect="1"/>
          </p:cNvPicPr>
          <p:nvPr/>
        </p:nvPicPr>
        <p:blipFill>
          <a:blip r:embed="rId3"/>
          <a:stretch>
            <a:fillRect/>
          </a:stretch>
        </p:blipFill>
        <p:spPr>
          <a:xfrm>
            <a:off x="5892394" y="3597250"/>
            <a:ext cx="395021" cy="395021"/>
          </a:xfrm>
          <a:prstGeom prst="rect">
            <a:avLst/>
          </a:prstGeom>
        </p:spPr>
      </p:pic>
      <p:sp>
        <p:nvSpPr>
          <p:cNvPr id="17" name="Text 12"/>
          <p:cNvSpPr txBox="1"/>
          <p:nvPr/>
        </p:nvSpPr>
        <p:spPr>
          <a:xfrm>
            <a:off x="4489704" y="4434840"/>
            <a:ext cx="3209544" cy="457200"/>
          </a:xfrm>
          <a:prstGeom prst="rect">
            <a:avLst/>
          </a:prstGeom>
          <a:noFill/>
          <a:ln/>
        </p:spPr>
        <p:txBody>
          <a:bodyPr wrap="square" lIns="0" tIns="0" rIns="0" bIns="0" rtlCol="0" anchor="t"/>
          <a:lstStyle/>
          <a:p>
            <a:pPr algn="ctr" indent="0" marL="0">
              <a:buNone/>
            </a:pPr>
            <a:r>
              <a:rPr lang="en-US" sz="2400" b="1" dirty="0">
                <a:solidFill>
                  <a:schemeClr val="tx2"/>
                </a:solidFill>
                <a:latin typeface="Cambria" pitchFamily="34" charset="0"/>
                <a:ea typeface="Cambria" pitchFamily="34" charset="-122"/>
                <a:cs typeface="Cambria" pitchFamily="34" charset="-120"/>
              </a:rPr>
              <a:t>Kavi</a:t>
            </a:r>
            <a:endParaRPr lang="en-US" sz="2400" dirty="0"/>
          </a:p>
        </p:txBody>
      </p:sp>
      <p:sp>
        <p:nvSpPr>
          <p:cNvPr id="18" name="Text 13"/>
          <p:cNvSpPr txBox="1"/>
          <p:nvPr/>
        </p:nvSpPr>
        <p:spPr>
          <a:xfrm>
            <a:off x="4489704" y="4983480"/>
            <a:ext cx="3209544" cy="365760"/>
          </a:xfrm>
          <a:prstGeom prst="rect">
            <a:avLst/>
          </a:prstGeom>
          <a:noFill/>
          <a:ln/>
        </p:spPr>
        <p:txBody>
          <a:bodyPr wrap="square" lIns="0" tIns="0" rIns="0" bIns="0" rtlCol="0" anchor="t"/>
          <a:lstStyle/>
          <a:p>
            <a:pPr algn="ctr" indent="0" marL="0">
              <a:buNone/>
            </a:pPr>
            <a:r>
              <a:rPr lang="en-US" sz="1800" b="1" dirty="0">
                <a:solidFill>
                  <a:schemeClr val="accent1"/>
                </a:solidFill>
              </a:rPr>
              <a:t>2520080021</a:t>
            </a:r>
            <a:endParaRPr lang="en-US" sz="1800" dirty="0"/>
          </a:p>
        </p:txBody>
      </p:sp>
      <p:sp>
        <p:nvSpPr>
          <p:cNvPr id="19" name="Member card Hemanth"/>
          <p:cNvSpPr/>
          <p:nvPr/>
        </p:nvSpPr>
        <p:spPr>
          <a:xfrm>
            <a:off x="8065008" y="3108960"/>
            <a:ext cx="3575304" cy="2651760"/>
          </a:xfrm>
          <a:prstGeom prst="roundRect">
            <a:avLst>
              <a:gd name="adj" fmla="val 3448"/>
            </a:avLst>
          </a:prstGeom>
          <a:solidFill>
            <a:schemeClr val="bg2"/>
          </a:solidFill>
          <a:ln/>
        </p:spPr>
      </p:sp>
      <p:sp>
        <p:nvSpPr>
          <p:cNvPr id="20" name="Hemanth circle"/>
          <p:cNvSpPr/>
          <p:nvPr/>
        </p:nvSpPr>
        <p:spPr>
          <a:xfrm>
            <a:off x="9436608" y="3383280"/>
            <a:ext cx="822960" cy="822960"/>
          </a:xfrm>
          <a:prstGeom prst="ellipse">
            <a:avLst/>
          </a:prstGeom>
          <a:solidFill>
            <a:schemeClr val="accent1"/>
          </a:solidFill>
          <a:ln/>
        </p:spPr>
      </p:sp>
      <p:pic>
        <p:nvPicPr>
          <p:cNvPr id="21" name="Hemanth image" descr="preencoded.png">    </p:cNvPr>
          <p:cNvPicPr>
            <a:picLocks noChangeAspect="1"/>
          </p:cNvPicPr>
          <p:nvPr/>
        </p:nvPicPr>
        <p:blipFill>
          <a:blip r:embed="rId4"/>
          <a:stretch>
            <a:fillRect/>
          </a:stretch>
        </p:blipFill>
        <p:spPr>
          <a:xfrm>
            <a:off x="9650578" y="3597250"/>
            <a:ext cx="395021" cy="395021"/>
          </a:xfrm>
          <a:prstGeom prst="rect">
            <a:avLst/>
          </a:prstGeom>
        </p:spPr>
      </p:pic>
      <p:sp>
        <p:nvSpPr>
          <p:cNvPr id="22" name="Text 16"/>
          <p:cNvSpPr txBox="1"/>
          <p:nvPr/>
        </p:nvSpPr>
        <p:spPr>
          <a:xfrm>
            <a:off x="8247888" y="4434840"/>
            <a:ext cx="3209544" cy="457200"/>
          </a:xfrm>
          <a:prstGeom prst="rect">
            <a:avLst/>
          </a:prstGeom>
          <a:noFill/>
          <a:ln/>
        </p:spPr>
        <p:txBody>
          <a:bodyPr wrap="square" lIns="0" tIns="0" rIns="0" bIns="0" rtlCol="0" anchor="t"/>
          <a:lstStyle/>
          <a:p>
            <a:pPr algn="ctr" indent="0" marL="0">
              <a:buNone/>
            </a:pPr>
            <a:r>
              <a:rPr lang="en-US" sz="2400" b="1" dirty="0">
                <a:solidFill>
                  <a:schemeClr val="tx2"/>
                </a:solidFill>
                <a:latin typeface="Cambria" pitchFamily="34" charset="0"/>
                <a:ea typeface="Cambria" pitchFamily="34" charset="-122"/>
                <a:cs typeface="Cambria" pitchFamily="34" charset="-120"/>
              </a:rPr>
              <a:t>Hemanth</a:t>
            </a:r>
            <a:endParaRPr lang="en-US" sz="2400" dirty="0"/>
          </a:p>
        </p:txBody>
      </p:sp>
      <p:sp>
        <p:nvSpPr>
          <p:cNvPr id="23" name="Text 17"/>
          <p:cNvSpPr txBox="1"/>
          <p:nvPr/>
        </p:nvSpPr>
        <p:spPr>
          <a:xfrm>
            <a:off x="8247888" y="4983480"/>
            <a:ext cx="3209544" cy="365760"/>
          </a:xfrm>
          <a:prstGeom prst="rect">
            <a:avLst/>
          </a:prstGeom>
          <a:noFill/>
          <a:ln/>
        </p:spPr>
        <p:txBody>
          <a:bodyPr wrap="square" lIns="0" tIns="0" rIns="0" bIns="0" rtlCol="0" anchor="t"/>
          <a:lstStyle/>
          <a:p>
            <a:pPr algn="ctr" indent="0" marL="0">
              <a:buNone/>
            </a:pPr>
            <a:r>
              <a:rPr lang="en-US" sz="1800" b="1" dirty="0">
                <a:solidFill>
                  <a:schemeClr val="accent1"/>
                </a:solidFill>
              </a:rPr>
              <a:t>2520090074</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txBox="1"/>
          <p:nvPr>
            <p:ph idx="104" type="title" hasCustomPrompt="1"/>
          </p:nvPr>
        </p:nvSpPr>
        <p:spPr>
          <a:xfrm>
            <a:off x="548640" y="365760"/>
            <a:ext cx="9326880" cy="731520"/>
          </a:xfrm>
          <a:prstGeom prst="rect">
            <a:avLst/>
          </a:prstGeom>
          <a:noFill/>
          <a:ln/>
        </p:spPr>
        <p:txBody>
          <a:bodyPr wrap="square" lIns="0" tIns="0" rIns="0" bIns="0" rtlCol="0" anchor="ctr"/>
          <a:lstStyle/>
          <a:p>
            <a:pPr algn="l" indent="0" marL="0">
              <a:buNone/>
            </a:pPr>
            <a:r>
              <a:rPr lang="en-US" sz="3400" b="1" dirty="0">
                <a:solidFill>
                  <a:schemeClr val="tx2"/>
                </a:solidFill>
              </a:rPr>
              <a:t>Abstract and Project Overview</a:t>
            </a:r>
            <a:endParaRPr lang="en-US" sz="3400" dirty="0"/>
          </a:p>
        </p:txBody>
      </p:sp>
      <p:sp>
        <p:nvSpPr>
          <p:cNvPr id="3" name="Text 1"/>
          <p:cNvSpPr txBox="1"/>
          <p:nvPr/>
        </p:nvSpPr>
        <p:spPr>
          <a:xfrm>
            <a:off x="548640" y="1463040"/>
            <a:ext cx="6309360" cy="420624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Many routine tasks (backups, log cleanup, reminders) must run at a set time without a person present. This project is a small job scheduler for Linux, written in C, that lets a user schedule any shell command to run once at a given time, after a delay, or repeatedly.</a:t>
            </a:r>
            <a:endParaRPr lang="en-US" sz="1700" dirty="0"/>
          </a:p>
          <a:p>
            <a:pPr indent="0" marL="0">
              <a:spcAft>
                <a:spcPts val="600"/>
              </a:spcAft>
              <a:buNone/>
            </a:pPr>
            <a:r>
              <a:rPr lang="en-US" sz="800" dirty="0">
                <a:solidFill>
                  <a:schemeClr val="tx1"/>
                </a:solidFill>
              </a:rPr>
              <a:t> </a:t>
            </a:r>
            <a:endParaRPr lang="en-US" sz="1700" dirty="0"/>
          </a:p>
          <a:p>
            <a:pPr indent="0" marL="0">
              <a:spcAft>
                <a:spcPts val="600"/>
              </a:spcAft>
              <a:buNone/>
            </a:pPr>
            <a:r>
              <a:rPr lang="en-US" sz="1700" dirty="0">
                <a:solidFill>
                  <a:schemeClr val="tx1"/>
                </a:solidFill>
              </a:rPr>
              <a:t>A background daemon checks a persistent job table every second and starts due jobs as separate child processes. Every start, exit status and the job's output is written to a log file.</a:t>
            </a:r>
            <a:endParaRPr lang="en-US" sz="1700" dirty="0"/>
          </a:p>
        </p:txBody>
      </p:sp>
      <p:sp>
        <p:nvSpPr>
          <p:cNvPr id="4" name="Stat card 1"/>
          <p:cNvSpPr/>
          <p:nvPr/>
        </p:nvSpPr>
        <p:spPr>
          <a:xfrm>
            <a:off x="7315200" y="1463040"/>
            <a:ext cx="4325112" cy="1371600"/>
          </a:xfrm>
          <a:prstGeom prst="roundRect">
            <a:avLst>
              <a:gd name="adj" fmla="val 6667"/>
            </a:avLst>
          </a:prstGeom>
          <a:solidFill>
            <a:schemeClr val="bg2"/>
          </a:solidFill>
          <a:ln/>
        </p:spPr>
      </p:sp>
      <p:sp>
        <p:nvSpPr>
          <p:cNvPr id="5" name="Text 3"/>
          <p:cNvSpPr txBox="1"/>
          <p:nvPr/>
        </p:nvSpPr>
        <p:spPr>
          <a:xfrm>
            <a:off x="7543800" y="1600200"/>
            <a:ext cx="1371600" cy="10972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417</a:t>
            </a:r>
            <a:endParaRPr lang="en-US" sz="4800" dirty="0"/>
          </a:p>
        </p:txBody>
      </p:sp>
      <p:sp>
        <p:nvSpPr>
          <p:cNvPr id="6" name="Text 4"/>
          <p:cNvSpPr txBox="1"/>
          <p:nvPr/>
        </p:nvSpPr>
        <p:spPr>
          <a:xfrm>
            <a:off x="8915400" y="1600200"/>
            <a:ext cx="2560320" cy="1097280"/>
          </a:xfrm>
          <a:prstGeom prst="rect">
            <a:avLst/>
          </a:prstGeom>
          <a:noFill/>
          <a:ln/>
        </p:spPr>
        <p:txBody>
          <a:bodyPr wrap="square" lIns="0" tIns="0" rIns="0" bIns="0" rtlCol="0" anchor="ctr"/>
          <a:lstStyle/>
          <a:p>
            <a:pPr indent="0" marL="0">
              <a:buNone/>
            </a:pPr>
            <a:r>
              <a:rPr lang="en-US" sz="1400" dirty="0">
                <a:solidFill>
                  <a:schemeClr val="tx1"/>
                </a:solidFill>
              </a:rPr>
              <a:t>lines of C in a single source file</a:t>
            </a:r>
            <a:endParaRPr lang="en-US" sz="1400" dirty="0"/>
          </a:p>
        </p:txBody>
      </p:sp>
      <p:sp>
        <p:nvSpPr>
          <p:cNvPr id="7" name="Stat card 2"/>
          <p:cNvSpPr/>
          <p:nvPr/>
        </p:nvSpPr>
        <p:spPr>
          <a:xfrm>
            <a:off x="7315200" y="3017520"/>
            <a:ext cx="4325112" cy="1371600"/>
          </a:xfrm>
          <a:prstGeom prst="roundRect">
            <a:avLst>
              <a:gd name="adj" fmla="val 6667"/>
            </a:avLst>
          </a:prstGeom>
          <a:solidFill>
            <a:schemeClr val="bg2"/>
          </a:solidFill>
          <a:ln/>
        </p:spPr>
      </p:sp>
      <p:sp>
        <p:nvSpPr>
          <p:cNvPr id="8" name="Text 6"/>
          <p:cNvSpPr txBox="1"/>
          <p:nvPr/>
        </p:nvSpPr>
        <p:spPr>
          <a:xfrm>
            <a:off x="7543800" y="3154680"/>
            <a:ext cx="1371600" cy="10972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8</a:t>
            </a:r>
            <a:endParaRPr lang="en-US" sz="4800" dirty="0"/>
          </a:p>
        </p:txBody>
      </p:sp>
      <p:sp>
        <p:nvSpPr>
          <p:cNvPr id="9" name="Text 7"/>
          <p:cNvSpPr txBox="1"/>
          <p:nvPr/>
        </p:nvSpPr>
        <p:spPr>
          <a:xfrm>
            <a:off x="8915400" y="3154680"/>
            <a:ext cx="2560320" cy="1097280"/>
          </a:xfrm>
          <a:prstGeom prst="rect">
            <a:avLst/>
          </a:prstGeom>
          <a:noFill/>
          <a:ln/>
        </p:spPr>
        <p:txBody>
          <a:bodyPr wrap="square" lIns="0" tIns="0" rIns="0" bIns="0" rtlCol="0" anchor="ctr"/>
          <a:lstStyle/>
          <a:p>
            <a:pPr indent="0" marL="0">
              <a:buNone/>
            </a:pPr>
            <a:r>
              <a:rPr lang="en-US" sz="1400" dirty="0">
                <a:solidFill>
                  <a:schemeClr val="tx1"/>
                </a:solidFill>
              </a:rPr>
              <a:t>commands: start, run, stop, status, add, list, remove, log</a:t>
            </a:r>
            <a:endParaRPr lang="en-US" sz="1400" dirty="0"/>
          </a:p>
        </p:txBody>
      </p:sp>
      <p:sp>
        <p:nvSpPr>
          <p:cNvPr id="10" name="Stat card 3"/>
          <p:cNvSpPr/>
          <p:nvPr/>
        </p:nvSpPr>
        <p:spPr>
          <a:xfrm>
            <a:off x="7315200" y="4572000"/>
            <a:ext cx="4325112" cy="1371600"/>
          </a:xfrm>
          <a:prstGeom prst="roundRect">
            <a:avLst>
              <a:gd name="adj" fmla="val 6667"/>
            </a:avLst>
          </a:prstGeom>
          <a:solidFill>
            <a:schemeClr val="bg2"/>
          </a:solidFill>
          <a:ln/>
        </p:spPr>
      </p:sp>
      <p:sp>
        <p:nvSpPr>
          <p:cNvPr id="11" name="Text 9"/>
          <p:cNvSpPr txBox="1"/>
          <p:nvPr/>
        </p:nvSpPr>
        <p:spPr>
          <a:xfrm>
            <a:off x="7543800" y="4709160"/>
            <a:ext cx="1371600" cy="10972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0</a:t>
            </a:r>
            <a:endParaRPr lang="en-US" sz="4800" dirty="0"/>
          </a:p>
        </p:txBody>
      </p:sp>
      <p:sp>
        <p:nvSpPr>
          <p:cNvPr id="12" name="Text 10"/>
          <p:cNvSpPr txBox="1"/>
          <p:nvPr/>
        </p:nvSpPr>
        <p:spPr>
          <a:xfrm>
            <a:off x="8915400" y="4709160"/>
            <a:ext cx="2560320" cy="1097280"/>
          </a:xfrm>
          <a:prstGeom prst="rect">
            <a:avLst/>
          </a:prstGeom>
          <a:noFill/>
          <a:ln/>
        </p:spPr>
        <p:txBody>
          <a:bodyPr wrap="square" lIns="0" tIns="0" rIns="0" bIns="0" rtlCol="0" anchor="ctr"/>
          <a:lstStyle/>
          <a:p>
            <a:pPr indent="0" marL="0">
              <a:buNone/>
            </a:pPr>
            <a:r>
              <a:rPr lang="en-US" sz="1400" dirty="0">
                <a:solidFill>
                  <a:schemeClr val="tx1"/>
                </a:solidFill>
              </a:rPr>
              <a:t>external libraries — only standard C and POSIX/Linux calls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txBox="1"/>
          <p:nvPr>
            <p:ph idx="104" type="title" hasCustomPrompt="1"/>
          </p:nvPr>
        </p:nvSpPr>
        <p:spPr>
          <a:xfrm>
            <a:off x="548640" y="365760"/>
            <a:ext cx="9326880" cy="731520"/>
          </a:xfrm>
          <a:prstGeom prst="rect">
            <a:avLst/>
          </a:prstGeom>
          <a:noFill/>
          <a:ln/>
        </p:spPr>
        <p:txBody>
          <a:bodyPr wrap="square" lIns="0" tIns="0" rIns="0" bIns="0" rtlCol="0" anchor="ctr"/>
          <a:lstStyle/>
          <a:p>
            <a:pPr algn="l" indent="0" marL="0">
              <a:buNone/>
            </a:pPr>
            <a:r>
              <a:rPr lang="en-US" sz="3400" b="1" dirty="0">
                <a:solidFill>
                  <a:schemeClr val="tx2"/>
                </a:solidFill>
              </a:rPr>
              <a:t>Problem Statement and Motivation</a:t>
            </a:r>
            <a:endParaRPr lang="en-US" sz="3400" dirty="0"/>
          </a:p>
        </p:txBody>
      </p:sp>
      <p:sp>
        <p:nvSpPr>
          <p:cNvPr id="3" name="Problem card"/>
          <p:cNvSpPr/>
          <p:nvPr/>
        </p:nvSpPr>
        <p:spPr>
          <a:xfrm>
            <a:off x="548640" y="1463040"/>
            <a:ext cx="4937760" cy="4480560"/>
          </a:xfrm>
          <a:prstGeom prst="roundRect">
            <a:avLst>
              <a:gd name="adj" fmla="val 2041"/>
            </a:avLst>
          </a:prstGeom>
          <a:solidFill>
            <a:schemeClr val="bg2"/>
          </a:solidFill>
          <a:ln/>
        </p:spPr>
      </p:sp>
      <p:sp>
        <p:nvSpPr>
          <p:cNvPr id="4" name="Text 2"/>
          <p:cNvSpPr txBox="1"/>
          <p:nvPr/>
        </p:nvSpPr>
        <p:spPr>
          <a:xfrm>
            <a:off x="822960" y="1691640"/>
            <a:ext cx="438912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Problem statement</a:t>
            </a:r>
            <a:endParaRPr lang="en-US" sz="2000" dirty="0"/>
          </a:p>
        </p:txBody>
      </p:sp>
      <p:sp>
        <p:nvSpPr>
          <p:cNvPr id="5" name="Text 3"/>
          <p:cNvSpPr txBox="1"/>
          <p:nvPr/>
        </p:nvSpPr>
        <p:spPr>
          <a:xfrm>
            <a:off x="822960" y="2194560"/>
            <a:ext cx="4389120" cy="3474720"/>
          </a:xfrm>
          <a:prstGeom prst="rect">
            <a:avLst/>
          </a:prstGeom>
          <a:noFill/>
          <a:ln/>
        </p:spPr>
        <p:txBody>
          <a:bodyPr wrap="square" lIns="0" tIns="0" rIns="0" bIns="0" rtlCol="0" anchor="t"/>
          <a:lstStyle/>
          <a:p>
            <a:pPr indent="0" marL="0">
              <a:buNone/>
            </a:pPr>
            <a:r>
              <a:rPr lang="en-US" sz="1900" dirty="0">
                <a:solidFill>
                  <a:schemeClr val="tx1"/>
                </a:solidFill>
              </a:rPr>
              <a:t>Design and implement a system that allows users to schedule programs or tasks for automatic execution at specified times, without manual intervention, and that keeps a record of what ran and how it ended.</a:t>
            </a:r>
            <a:endParaRPr lang="en-US" sz="1900" dirty="0"/>
          </a:p>
        </p:txBody>
      </p:sp>
      <p:sp>
        <p:nvSpPr>
          <p:cNvPr id="6" name="Motivation 1 circle"/>
          <p:cNvSpPr/>
          <p:nvPr/>
        </p:nvSpPr>
        <p:spPr>
          <a:xfrm>
            <a:off x="5943600" y="1645920"/>
            <a:ext cx="822960" cy="822960"/>
          </a:xfrm>
          <a:prstGeom prst="ellipse">
            <a:avLst/>
          </a:prstGeom>
          <a:solidFill>
            <a:schemeClr val="accent1"/>
          </a:solidFill>
          <a:ln/>
        </p:spPr>
      </p:sp>
      <p:pic>
        <p:nvPicPr>
          <p:cNvPr id="7" name="Motivation 1 image" descr="preencoded.png">    </p:cNvPr>
          <p:cNvPicPr>
            <a:picLocks noChangeAspect="1"/>
          </p:cNvPicPr>
          <p:nvPr/>
        </p:nvPicPr>
        <p:blipFill>
          <a:blip r:embed="rId1"/>
          <a:stretch>
            <a:fillRect/>
          </a:stretch>
        </p:blipFill>
        <p:spPr>
          <a:xfrm>
            <a:off x="6157570" y="1859890"/>
            <a:ext cx="395021" cy="395021"/>
          </a:xfrm>
          <a:prstGeom prst="rect">
            <a:avLst/>
          </a:prstGeom>
        </p:spPr>
      </p:pic>
      <p:sp>
        <p:nvSpPr>
          <p:cNvPr id="8" name="Text 5"/>
          <p:cNvSpPr txBox="1"/>
          <p:nvPr/>
        </p:nvSpPr>
        <p:spPr>
          <a:xfrm>
            <a:off x="6995160" y="1572768"/>
            <a:ext cx="4572000" cy="365760"/>
          </a:xfrm>
          <a:prstGeom prst="rect">
            <a:avLst/>
          </a:prstGeom>
          <a:noFill/>
          <a:ln/>
        </p:spPr>
        <p:txBody>
          <a:bodyPr wrap="square" lIns="0" tIns="0" rIns="0" bIns="0" rtlCol="0" anchor="t"/>
          <a:lstStyle/>
          <a:p>
            <a:pPr indent="0" marL="0">
              <a:buNone/>
            </a:pPr>
            <a:r>
              <a:rPr lang="en-US" sz="2000" b="1" dirty="0">
                <a:solidFill>
                  <a:schemeClr val="tx2"/>
                </a:solidFill>
              </a:rPr>
              <a:t>Unattended execution</a:t>
            </a:r>
            <a:endParaRPr lang="en-US" sz="2000" dirty="0"/>
          </a:p>
        </p:txBody>
      </p:sp>
      <p:sp>
        <p:nvSpPr>
          <p:cNvPr id="9" name="Text 6"/>
          <p:cNvSpPr txBox="1"/>
          <p:nvPr/>
        </p:nvSpPr>
        <p:spPr>
          <a:xfrm>
            <a:off x="6995160" y="2011680"/>
            <a:ext cx="4572000" cy="731520"/>
          </a:xfrm>
          <a:prstGeom prst="rect">
            <a:avLst/>
          </a:prstGeom>
          <a:noFill/>
          <a:ln/>
        </p:spPr>
        <p:txBody>
          <a:bodyPr wrap="square" lIns="0" tIns="0" rIns="0" bIns="0" rtlCol="0" anchor="t"/>
          <a:lstStyle/>
          <a:p>
            <a:pPr indent="0" marL="0">
              <a:buNone/>
            </a:pPr>
            <a:r>
              <a:rPr lang="en-US" sz="1500" dirty="0">
                <a:solidFill>
                  <a:schemeClr val="tx1"/>
                </a:solidFill>
              </a:rPr>
              <a:t>Tasks should start on time even when nobody is logged in.</a:t>
            </a:r>
            <a:endParaRPr lang="en-US" sz="1500" dirty="0"/>
          </a:p>
        </p:txBody>
      </p:sp>
      <p:sp>
        <p:nvSpPr>
          <p:cNvPr id="10" name="Motivation 2 circle"/>
          <p:cNvSpPr/>
          <p:nvPr/>
        </p:nvSpPr>
        <p:spPr>
          <a:xfrm>
            <a:off x="5943600" y="3200400"/>
            <a:ext cx="822960" cy="822960"/>
          </a:xfrm>
          <a:prstGeom prst="ellipse">
            <a:avLst/>
          </a:prstGeom>
          <a:solidFill>
            <a:schemeClr val="accent1"/>
          </a:solidFill>
          <a:ln/>
        </p:spPr>
      </p:sp>
      <p:pic>
        <p:nvPicPr>
          <p:cNvPr id="11" name="Motivation 2 image" descr="preencoded.png">    </p:cNvPr>
          <p:cNvPicPr>
            <a:picLocks noChangeAspect="1"/>
          </p:cNvPicPr>
          <p:nvPr/>
        </p:nvPicPr>
        <p:blipFill>
          <a:blip r:embed="rId2"/>
          <a:stretch>
            <a:fillRect/>
          </a:stretch>
        </p:blipFill>
        <p:spPr>
          <a:xfrm>
            <a:off x="6157570" y="3414370"/>
            <a:ext cx="395021" cy="395021"/>
          </a:xfrm>
          <a:prstGeom prst="rect">
            <a:avLst/>
          </a:prstGeom>
        </p:spPr>
      </p:pic>
      <p:sp>
        <p:nvSpPr>
          <p:cNvPr id="12" name="Text 8"/>
          <p:cNvSpPr txBox="1"/>
          <p:nvPr/>
        </p:nvSpPr>
        <p:spPr>
          <a:xfrm>
            <a:off x="6995160" y="3127248"/>
            <a:ext cx="4572000" cy="365760"/>
          </a:xfrm>
          <a:prstGeom prst="rect">
            <a:avLst/>
          </a:prstGeom>
          <a:noFill/>
          <a:ln/>
        </p:spPr>
        <p:txBody>
          <a:bodyPr wrap="square" lIns="0" tIns="0" rIns="0" bIns="0" rtlCol="0" anchor="t"/>
          <a:lstStyle/>
          <a:p>
            <a:pPr indent="0" marL="0">
              <a:buNone/>
            </a:pPr>
            <a:r>
              <a:rPr lang="en-US" sz="2000" b="1" dirty="0">
                <a:solidFill>
                  <a:schemeClr val="tx2"/>
                </a:solidFill>
              </a:rPr>
              <a:t>Repeating work</a:t>
            </a:r>
            <a:endParaRPr lang="en-US" sz="2000" dirty="0"/>
          </a:p>
        </p:txBody>
      </p:sp>
      <p:sp>
        <p:nvSpPr>
          <p:cNvPr id="13" name="Text 9"/>
          <p:cNvSpPr txBox="1"/>
          <p:nvPr/>
        </p:nvSpPr>
        <p:spPr>
          <a:xfrm>
            <a:off x="6995160" y="3566160"/>
            <a:ext cx="4572000" cy="731520"/>
          </a:xfrm>
          <a:prstGeom prst="rect">
            <a:avLst/>
          </a:prstGeom>
          <a:noFill/>
          <a:ln/>
        </p:spPr>
        <p:txBody>
          <a:bodyPr wrap="square" lIns="0" tIns="0" rIns="0" bIns="0" rtlCol="0" anchor="t"/>
          <a:lstStyle/>
          <a:p>
            <a:pPr indent="0" marL="0">
              <a:buNone/>
            </a:pPr>
            <a:r>
              <a:rPr lang="en-US" sz="1500" dirty="0">
                <a:solidFill>
                  <a:schemeClr val="tx1"/>
                </a:solidFill>
              </a:rPr>
              <a:t>Backups and cleanups repeat; doing them by hand is error-prone.</a:t>
            </a:r>
            <a:endParaRPr lang="en-US" sz="1500" dirty="0"/>
          </a:p>
        </p:txBody>
      </p:sp>
      <p:sp>
        <p:nvSpPr>
          <p:cNvPr id="14" name="Motivation 3 circle"/>
          <p:cNvSpPr/>
          <p:nvPr/>
        </p:nvSpPr>
        <p:spPr>
          <a:xfrm>
            <a:off x="5943600" y="4754880"/>
            <a:ext cx="822960" cy="822960"/>
          </a:xfrm>
          <a:prstGeom prst="ellipse">
            <a:avLst/>
          </a:prstGeom>
          <a:solidFill>
            <a:schemeClr val="accent1"/>
          </a:solidFill>
          <a:ln/>
        </p:spPr>
      </p:sp>
      <p:pic>
        <p:nvPicPr>
          <p:cNvPr id="15" name="Motivation 3 image" descr="preencoded.png">    </p:cNvPr>
          <p:cNvPicPr>
            <a:picLocks noChangeAspect="1"/>
          </p:cNvPicPr>
          <p:nvPr/>
        </p:nvPicPr>
        <p:blipFill>
          <a:blip r:embed="rId3"/>
          <a:stretch>
            <a:fillRect/>
          </a:stretch>
        </p:blipFill>
        <p:spPr>
          <a:xfrm>
            <a:off x="6157570" y="4968850"/>
            <a:ext cx="395021" cy="395021"/>
          </a:xfrm>
          <a:prstGeom prst="rect">
            <a:avLst/>
          </a:prstGeom>
        </p:spPr>
      </p:pic>
      <p:sp>
        <p:nvSpPr>
          <p:cNvPr id="16" name="Text 11"/>
          <p:cNvSpPr txBox="1"/>
          <p:nvPr/>
        </p:nvSpPr>
        <p:spPr>
          <a:xfrm>
            <a:off x="6995160" y="4681728"/>
            <a:ext cx="4572000" cy="365760"/>
          </a:xfrm>
          <a:prstGeom prst="rect">
            <a:avLst/>
          </a:prstGeom>
          <a:noFill/>
          <a:ln/>
        </p:spPr>
        <p:txBody>
          <a:bodyPr wrap="square" lIns="0" tIns="0" rIns="0" bIns="0" rtlCol="0" anchor="t"/>
          <a:lstStyle/>
          <a:p>
            <a:pPr indent="0" marL="0">
              <a:buNone/>
            </a:pPr>
            <a:r>
              <a:rPr lang="en-US" sz="2000" b="1" dirty="0">
                <a:solidFill>
                  <a:schemeClr val="tx2"/>
                </a:solidFill>
              </a:rPr>
              <a:t>Learn how the OS does it</a:t>
            </a:r>
            <a:endParaRPr lang="en-US" sz="2000" dirty="0"/>
          </a:p>
        </p:txBody>
      </p:sp>
      <p:sp>
        <p:nvSpPr>
          <p:cNvPr id="17" name="Text 12"/>
          <p:cNvSpPr txBox="1"/>
          <p:nvPr/>
        </p:nvSpPr>
        <p:spPr>
          <a:xfrm>
            <a:off x="6995160" y="5120640"/>
            <a:ext cx="4572000" cy="731520"/>
          </a:xfrm>
          <a:prstGeom prst="rect">
            <a:avLst/>
          </a:prstGeom>
          <a:noFill/>
          <a:ln/>
        </p:spPr>
        <p:txBody>
          <a:bodyPr wrap="square" lIns="0" tIns="0" rIns="0" bIns="0" rtlCol="0" anchor="t"/>
          <a:lstStyle/>
          <a:p>
            <a:pPr indent="0" marL="0">
              <a:buNone/>
            </a:pPr>
            <a:r>
              <a:rPr lang="en-US" sz="1500" dirty="0">
                <a:solidFill>
                  <a:schemeClr val="tx1"/>
                </a:solidFill>
              </a:rPr>
              <a:t>Building a scheduler exposes fork, exec, signals and locking.</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txBox="1"/>
          <p:nvPr>
            <p:ph idx="104" type="title" hasCustomPrompt="1"/>
          </p:nvPr>
        </p:nvSpPr>
        <p:spPr>
          <a:xfrm>
            <a:off x="548640" y="365760"/>
            <a:ext cx="9326880" cy="731520"/>
          </a:xfrm>
          <a:prstGeom prst="rect">
            <a:avLst/>
          </a:prstGeom>
          <a:noFill/>
          <a:ln/>
        </p:spPr>
        <p:txBody>
          <a:bodyPr wrap="square" lIns="0" tIns="0" rIns="0" bIns="0" rtlCol="0" anchor="ctr"/>
          <a:lstStyle/>
          <a:p>
            <a:pPr algn="l" indent="0" marL="0">
              <a:buNone/>
            </a:pPr>
            <a:r>
              <a:rPr lang="en-US" sz="3400" b="1" dirty="0">
                <a:solidFill>
                  <a:schemeClr val="tx2"/>
                </a:solidFill>
              </a:rPr>
              <a:t>Objectives and Scope</a:t>
            </a:r>
            <a:endParaRPr lang="en-US" sz="3400" dirty="0"/>
          </a:p>
        </p:txBody>
      </p:sp>
      <p:sp>
        <p:nvSpPr>
          <p:cNvPr id="3" name="Text 1"/>
          <p:cNvSpPr txBox="1"/>
          <p:nvPr/>
        </p:nvSpPr>
        <p:spPr>
          <a:xfrm>
            <a:off x="548640" y="1371600"/>
            <a:ext cx="5486400" cy="36576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Objectives</a:t>
            </a:r>
            <a:endParaRPr lang="en-US" sz="2200" dirty="0"/>
          </a:p>
        </p:txBody>
      </p:sp>
      <p:sp>
        <p:nvSpPr>
          <p:cNvPr id="4" name="Number 1"/>
          <p:cNvSpPr/>
          <p:nvPr/>
        </p:nvSpPr>
        <p:spPr>
          <a:xfrm>
            <a:off x="548640" y="1920240"/>
            <a:ext cx="457200" cy="457200"/>
          </a:xfrm>
          <a:prstGeom prst="ellipse">
            <a:avLst/>
          </a:prstGeom>
          <a:solidFill>
            <a:schemeClr val="accent1"/>
          </a:solidFill>
          <a:ln/>
        </p:spPr>
      </p:sp>
      <p:sp>
        <p:nvSpPr>
          <p:cNvPr id="5" name="Text 3"/>
          <p:cNvSpPr txBox="1"/>
          <p:nvPr/>
        </p:nvSpPr>
        <p:spPr>
          <a:xfrm>
            <a:off x="548640" y="19202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188720" y="1874520"/>
            <a:ext cx="4937760" cy="640080"/>
          </a:xfrm>
          <a:prstGeom prst="rect">
            <a:avLst/>
          </a:prstGeom>
          <a:noFill/>
          <a:ln/>
        </p:spPr>
        <p:txBody>
          <a:bodyPr wrap="square" lIns="0" tIns="0" rIns="0" bIns="0" rtlCol="0" anchor="ctr"/>
          <a:lstStyle/>
          <a:p>
            <a:pPr indent="0" marL="0">
              <a:buNone/>
            </a:pPr>
            <a:r>
              <a:rPr lang="en-US" sz="1500" dirty="0">
                <a:solidFill>
                  <a:schemeClr val="tx1"/>
                </a:solidFill>
              </a:rPr>
              <a:t>Schedule a command at a clock time (HH:MM) or after a delay (+N s/m/h)</a:t>
            </a:r>
            <a:endParaRPr lang="en-US" sz="1500" dirty="0"/>
          </a:p>
        </p:txBody>
      </p:sp>
      <p:sp>
        <p:nvSpPr>
          <p:cNvPr id="7" name="Number 2"/>
          <p:cNvSpPr/>
          <p:nvPr/>
        </p:nvSpPr>
        <p:spPr>
          <a:xfrm>
            <a:off x="548640" y="2743200"/>
            <a:ext cx="457200" cy="457200"/>
          </a:xfrm>
          <a:prstGeom prst="ellipse">
            <a:avLst/>
          </a:prstGeom>
          <a:solidFill>
            <a:schemeClr val="accent1"/>
          </a:solidFill>
          <a:ln/>
        </p:spPr>
      </p:sp>
      <p:sp>
        <p:nvSpPr>
          <p:cNvPr id="8" name="Text 6"/>
          <p:cNvSpPr txBox="1"/>
          <p:nvPr/>
        </p:nvSpPr>
        <p:spPr>
          <a:xfrm>
            <a:off x="548640" y="2743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1188720" y="2697480"/>
            <a:ext cx="4937760" cy="640080"/>
          </a:xfrm>
          <a:prstGeom prst="rect">
            <a:avLst/>
          </a:prstGeom>
          <a:noFill/>
          <a:ln/>
        </p:spPr>
        <p:txBody>
          <a:bodyPr wrap="square" lIns="0" tIns="0" rIns="0" bIns="0" rtlCol="0" anchor="ctr"/>
          <a:lstStyle/>
          <a:p>
            <a:pPr indent="0" marL="0">
              <a:buNone/>
            </a:pPr>
            <a:r>
              <a:rPr lang="en-US" sz="1500" dirty="0">
                <a:solidFill>
                  <a:schemeClr val="tx1"/>
                </a:solidFill>
              </a:rPr>
              <a:t>Support repeating jobs with a fixed interval</a:t>
            </a:r>
            <a:endParaRPr lang="en-US" sz="1500" dirty="0"/>
          </a:p>
        </p:txBody>
      </p:sp>
      <p:sp>
        <p:nvSpPr>
          <p:cNvPr id="10" name="Number 3"/>
          <p:cNvSpPr/>
          <p:nvPr/>
        </p:nvSpPr>
        <p:spPr>
          <a:xfrm>
            <a:off x="548640" y="3566160"/>
            <a:ext cx="457200" cy="457200"/>
          </a:xfrm>
          <a:prstGeom prst="ellipse">
            <a:avLst/>
          </a:prstGeom>
          <a:solidFill>
            <a:schemeClr val="accent1"/>
          </a:solidFill>
          <a:ln/>
        </p:spPr>
      </p:sp>
      <p:sp>
        <p:nvSpPr>
          <p:cNvPr id="11" name="Text 9"/>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10"/>
          <p:cNvSpPr txBox="1"/>
          <p:nvPr/>
        </p:nvSpPr>
        <p:spPr>
          <a:xfrm>
            <a:off x="1188720" y="3520440"/>
            <a:ext cx="4937760" cy="640080"/>
          </a:xfrm>
          <a:prstGeom prst="rect">
            <a:avLst/>
          </a:prstGeom>
          <a:noFill/>
          <a:ln/>
        </p:spPr>
        <p:txBody>
          <a:bodyPr wrap="square" lIns="0" tIns="0" rIns="0" bIns="0" rtlCol="0" anchor="ctr"/>
          <a:lstStyle/>
          <a:p>
            <a:pPr indent="0" marL="0">
              <a:buNone/>
            </a:pPr>
            <a:r>
              <a:rPr lang="en-US" sz="1500" dirty="0">
                <a:solidFill>
                  <a:schemeClr val="tx1"/>
                </a:solidFill>
              </a:rPr>
              <a:t>Run jobs automatically in a background daemon</a:t>
            </a:r>
            <a:endParaRPr lang="en-US" sz="1500" dirty="0"/>
          </a:p>
        </p:txBody>
      </p:sp>
      <p:sp>
        <p:nvSpPr>
          <p:cNvPr id="13" name="Number 4"/>
          <p:cNvSpPr/>
          <p:nvPr/>
        </p:nvSpPr>
        <p:spPr>
          <a:xfrm>
            <a:off x="548640" y="4389120"/>
            <a:ext cx="457200" cy="457200"/>
          </a:xfrm>
          <a:prstGeom prst="ellipse">
            <a:avLst/>
          </a:prstGeom>
          <a:solidFill>
            <a:schemeClr val="accent1"/>
          </a:solidFill>
          <a:ln/>
        </p:spPr>
      </p:sp>
      <p:sp>
        <p:nvSpPr>
          <p:cNvPr id="14" name="Text 12"/>
          <p:cNvSpPr txBox="1"/>
          <p:nvPr/>
        </p:nvSpPr>
        <p:spPr>
          <a:xfrm>
            <a:off x="548640" y="43891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xt 13"/>
          <p:cNvSpPr txBox="1"/>
          <p:nvPr/>
        </p:nvSpPr>
        <p:spPr>
          <a:xfrm>
            <a:off x="1188720" y="4343400"/>
            <a:ext cx="4937760" cy="640080"/>
          </a:xfrm>
          <a:prstGeom prst="rect">
            <a:avLst/>
          </a:prstGeom>
          <a:noFill/>
          <a:ln/>
        </p:spPr>
        <p:txBody>
          <a:bodyPr wrap="square" lIns="0" tIns="0" rIns="0" bIns="0" rtlCol="0" anchor="ctr"/>
          <a:lstStyle/>
          <a:p>
            <a:pPr indent="0" marL="0">
              <a:buNone/>
            </a:pPr>
            <a:r>
              <a:rPr lang="en-US" sz="1500" dirty="0">
                <a:solidFill>
                  <a:schemeClr val="tx1"/>
                </a:solidFill>
              </a:rPr>
              <a:t>Keep jobs across restarts and log every execution</a:t>
            </a:r>
            <a:endParaRPr lang="en-US" sz="1500" dirty="0"/>
          </a:p>
        </p:txBody>
      </p:sp>
      <p:sp>
        <p:nvSpPr>
          <p:cNvPr id="16" name="Number 5"/>
          <p:cNvSpPr/>
          <p:nvPr/>
        </p:nvSpPr>
        <p:spPr>
          <a:xfrm>
            <a:off x="548640" y="5212080"/>
            <a:ext cx="457200" cy="457200"/>
          </a:xfrm>
          <a:prstGeom prst="ellipse">
            <a:avLst/>
          </a:prstGeom>
          <a:solidFill>
            <a:schemeClr val="accent1"/>
          </a:solidFill>
          <a:ln/>
        </p:spPr>
      </p:sp>
      <p:sp>
        <p:nvSpPr>
          <p:cNvPr id="17" name="Text 15"/>
          <p:cNvSpPr txBox="1"/>
          <p:nvPr/>
        </p:nvSpPr>
        <p:spPr>
          <a:xfrm>
            <a:off x="548640" y="52120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8" name="Text 16"/>
          <p:cNvSpPr txBox="1"/>
          <p:nvPr/>
        </p:nvSpPr>
        <p:spPr>
          <a:xfrm>
            <a:off x="1188720" y="5166360"/>
            <a:ext cx="4937760" cy="640080"/>
          </a:xfrm>
          <a:prstGeom prst="rect">
            <a:avLst/>
          </a:prstGeom>
          <a:noFill/>
          <a:ln/>
        </p:spPr>
        <p:txBody>
          <a:bodyPr wrap="square" lIns="0" tIns="0" rIns="0" bIns="0" rtlCol="0" anchor="ctr"/>
          <a:lstStyle/>
          <a:p>
            <a:pPr indent="0" marL="0">
              <a:buNone/>
            </a:pPr>
            <a:r>
              <a:rPr lang="en-US" sz="1500" dirty="0">
                <a:solidFill>
                  <a:schemeClr val="tx1"/>
                </a:solidFill>
              </a:rPr>
              <a:t>Demonstrate core OS concepts in working code</a:t>
            </a:r>
            <a:endParaRPr lang="en-US" sz="1500" dirty="0"/>
          </a:p>
        </p:txBody>
      </p:sp>
      <p:sp>
        <p:nvSpPr>
          <p:cNvPr id="19" name="In scope card"/>
          <p:cNvSpPr/>
          <p:nvPr/>
        </p:nvSpPr>
        <p:spPr>
          <a:xfrm>
            <a:off x="6675120" y="1371600"/>
            <a:ext cx="4965192" cy="2240280"/>
          </a:xfrm>
          <a:prstGeom prst="roundRect">
            <a:avLst>
              <a:gd name="adj" fmla="val 4082"/>
            </a:avLst>
          </a:prstGeom>
          <a:solidFill>
            <a:schemeClr val="bg2"/>
          </a:solidFill>
          <a:ln/>
        </p:spPr>
      </p:sp>
      <p:sp>
        <p:nvSpPr>
          <p:cNvPr id="20" name="Text 18"/>
          <p:cNvSpPr txBox="1"/>
          <p:nvPr/>
        </p:nvSpPr>
        <p:spPr>
          <a:xfrm>
            <a:off x="6949440" y="1508760"/>
            <a:ext cx="4389120" cy="320040"/>
          </a:xfrm>
          <a:prstGeom prst="rect">
            <a:avLst/>
          </a:prstGeom>
          <a:noFill/>
          <a:ln/>
        </p:spPr>
        <p:txBody>
          <a:bodyPr wrap="square" lIns="0" tIns="0" rIns="0" bIns="0" rtlCol="0" anchor="t"/>
          <a:lstStyle/>
          <a:p>
            <a:pPr indent="0" marL="0">
              <a:buNone/>
            </a:pPr>
            <a:r>
              <a:rPr lang="en-US" sz="1800" b="1" dirty="0">
                <a:solidFill>
                  <a:schemeClr val="accent1"/>
                </a:solidFill>
              </a:rPr>
              <a:t>In scope</a:t>
            </a:r>
            <a:endParaRPr lang="en-US" sz="1800" dirty="0"/>
          </a:p>
        </p:txBody>
      </p:sp>
      <p:sp>
        <p:nvSpPr>
          <p:cNvPr id="21" name="Text 19"/>
          <p:cNvSpPr txBox="1"/>
          <p:nvPr/>
        </p:nvSpPr>
        <p:spPr>
          <a:xfrm>
            <a:off x="6949440" y="1920240"/>
            <a:ext cx="4434840" cy="1554480"/>
          </a:xfrm>
          <a:prstGeom prst="rect">
            <a:avLst/>
          </a:prstGeom>
          <a:noFill/>
          <a:ln/>
        </p:spPr>
        <p:txBody>
          <a:bodyPr wrap="square" lIns="0" tIns="0" rIns="0" bIns="0" rtlCol="0" anchor="t"/>
          <a:lstStyle/>
          <a:p>
            <a:pPr indent="0" marL="0">
              <a:buNone/>
            </a:pPr>
            <a:r>
              <a:rPr lang="en-US" sz="1500" dirty="0">
                <a:solidFill>
                  <a:schemeClr val="tx1"/>
                </a:solidFill>
              </a:rPr>
              <a:t>One-shot, delayed and fixed-interval jobs · persistent job table · daemon with PID file · log file · list/remove/stop commands</a:t>
            </a:r>
            <a:endParaRPr lang="en-US" sz="1500" dirty="0"/>
          </a:p>
        </p:txBody>
      </p:sp>
      <p:sp>
        <p:nvSpPr>
          <p:cNvPr id="22" name="Out of scope card"/>
          <p:cNvSpPr/>
          <p:nvPr/>
        </p:nvSpPr>
        <p:spPr>
          <a:xfrm>
            <a:off x="6675120" y="3840480"/>
            <a:ext cx="4965192" cy="2240280"/>
          </a:xfrm>
          <a:prstGeom prst="roundRect">
            <a:avLst>
              <a:gd name="adj" fmla="val 4082"/>
            </a:avLst>
          </a:prstGeom>
          <a:solidFill>
            <a:schemeClr val="bg2"/>
          </a:solidFill>
          <a:ln/>
        </p:spPr>
      </p:sp>
      <p:sp>
        <p:nvSpPr>
          <p:cNvPr id="23" name="Text 21"/>
          <p:cNvSpPr txBox="1"/>
          <p:nvPr/>
        </p:nvSpPr>
        <p:spPr>
          <a:xfrm>
            <a:off x="6949440" y="3977640"/>
            <a:ext cx="4389120" cy="320040"/>
          </a:xfrm>
          <a:prstGeom prst="rect">
            <a:avLst/>
          </a:prstGeom>
          <a:noFill/>
          <a:ln/>
        </p:spPr>
        <p:txBody>
          <a:bodyPr wrap="square" lIns="0" tIns="0" rIns="0" bIns="0" rtlCol="0" anchor="t"/>
          <a:lstStyle/>
          <a:p>
            <a:pPr indent="0" marL="0">
              <a:buNone/>
            </a:pPr>
            <a:r>
              <a:rPr lang="en-US" sz="1800" b="1" dirty="0">
                <a:solidFill>
                  <a:schemeClr val="accent6"/>
                </a:solidFill>
              </a:rPr>
              <a:t>Out of scope (not implemented)</a:t>
            </a:r>
            <a:endParaRPr lang="en-US" sz="1800" dirty="0"/>
          </a:p>
        </p:txBody>
      </p:sp>
      <p:sp>
        <p:nvSpPr>
          <p:cNvPr id="24" name="Text 22"/>
          <p:cNvSpPr txBox="1"/>
          <p:nvPr/>
        </p:nvSpPr>
        <p:spPr>
          <a:xfrm>
            <a:off x="6949440" y="4389120"/>
            <a:ext cx="4434840" cy="1554480"/>
          </a:xfrm>
          <a:prstGeom prst="rect">
            <a:avLst/>
          </a:prstGeom>
          <a:noFill/>
          <a:ln/>
        </p:spPr>
        <p:txBody>
          <a:bodyPr wrap="square" lIns="0" tIns="0" rIns="0" bIns="0" rtlCol="0" anchor="t"/>
          <a:lstStyle/>
          <a:p>
            <a:pPr indent="0" marL="0">
              <a:buNone/>
            </a:pPr>
            <a:r>
              <a:rPr lang="en-US" sz="1500" dirty="0">
                <a:solidFill>
                  <a:schemeClr val="tx1"/>
                </a:solidFill>
              </a:rPr>
              <a:t>Job dependencies · retries · timeouts · priorities · cron-style expressions · multi-user access control · graphical interface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txBox="1"/>
          <p:nvPr>
            <p:ph idx="104" type="title" hasCustomPrompt="1"/>
          </p:nvPr>
        </p:nvSpPr>
        <p:spPr>
          <a:xfrm>
            <a:off x="548640" y="365760"/>
            <a:ext cx="9326880" cy="731520"/>
          </a:xfrm>
          <a:prstGeom prst="rect">
            <a:avLst/>
          </a:prstGeom>
          <a:noFill/>
          <a:ln/>
        </p:spPr>
        <p:txBody>
          <a:bodyPr wrap="square" lIns="0" tIns="0" rIns="0" bIns="0" rtlCol="0" anchor="ctr"/>
          <a:lstStyle/>
          <a:p>
            <a:pPr algn="l" indent="0" marL="0">
              <a:buNone/>
            </a:pPr>
            <a:r>
              <a:rPr lang="en-US" sz="3400" b="1" dirty="0">
                <a:solidFill>
                  <a:schemeClr val="tx2"/>
                </a:solidFill>
              </a:rPr>
              <a:t>Existing Approach vs. Proposed System</a:t>
            </a:r>
            <a:endParaRPr lang="en-US" sz="3400" dirty="0"/>
          </a:p>
        </p:txBody>
      </p:sp>
      <p:graphicFrame>
        <p:nvGraphicFramePr>
          <p:cNvPr id="7" name="Comparison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103120"/>
                <a:gridCol w="4206240"/>
                <a:gridCol w="4782312"/>
              </a:tblGrid>
              <a:tr h="566928">
                <a:tc>
                  <a:txBody>
                    <a:bodyPr/>
                    <a:lstStyle/>
                    <a:p>
                      <a:pPr indent="0" marL="0">
                        <a:buNone/>
                      </a:pPr>
                      <a:r>
                        <a:rPr lang="en-US" sz="1500" b="1" dirty="0">
                          <a:solidFill>
                            <a:schemeClr val="bg1"/>
                          </a:solidFill>
                        </a:rPr>
                        <a:t>Aspect</a:t>
                      </a:r>
                      <a:endParaRPr lang="en-US" sz="15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Existing: cron and at</a:t>
                      </a:r>
                      <a:endParaRPr lang="en-US" sz="15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Proposed: jobsched</a:t>
                      </a:r>
                      <a:endParaRPr lang="en-US" sz="15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2"/>
                          </a:solidFill>
                        </a:rPr>
                        <a:t>One-time jobs</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at (separate tool)</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add HH:MM or add +N[s|m|h]</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2"/>
                          </a:solidFill>
                        </a:rPr>
                        <a:t>Recurring jobs</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cron, via crontab entries</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add ... --every N[s|m|h]</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2"/>
                          </a:solidFill>
                        </a:rPr>
                        <a:t>Time format</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5-field cron expressions</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Clock time or relative delay; fixed intervals only</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2"/>
                          </a:solidFill>
                        </a:rPr>
                        <a:t>Interface</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Two tools and a crontab file</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One command-line tool with 8 commands</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2"/>
                          </a:solidFill>
                        </a:rPr>
                        <a:t>Flexibility</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Calendar patterns (days, months)</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Simpler; no calendar patterns</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2"/>
                          </a:solidFill>
                        </a:rPr>
                        <a:t>Learning value</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Black box to the user</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Small, readable source showing each OS call</a:t>
                      </a:r>
                      <a:endParaRPr lang="en-US" sz="1400" dirty="0"/>
                    </a:p>
                  </a:txBody>
                  <a:tcPr marL="109728" marR="109728" marT="45720" marB="4572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760720"/>
            <a:ext cx="11091672" cy="365760"/>
          </a:xfrm>
          <a:prstGeom prst="rect">
            <a:avLst/>
          </a:prstGeom>
          <a:noFill/>
          <a:ln/>
        </p:spPr>
        <p:txBody>
          <a:bodyPr wrap="square" lIns="0" tIns="0" rIns="0" bIns="0" rtlCol="0" anchor="t"/>
          <a:lstStyle/>
          <a:p>
            <a:pPr indent="0" marL="0">
              <a:buNone/>
            </a:pPr>
            <a:r>
              <a:rPr lang="en-US" sz="1500" i="1" dirty="0">
                <a:solidFill>
                  <a:schemeClr val="accent4"/>
                </a:solidFill>
              </a:rPr>
              <a:t>Not a replacement for cron: it trades flexibility for simplicity and transparency.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txBox="1"/>
          <p:nvPr>
            <p:ph idx="104" type="title" hasCustomPrompt="1"/>
          </p:nvPr>
        </p:nvSpPr>
        <p:spPr>
          <a:xfrm>
            <a:off x="548640" y="365760"/>
            <a:ext cx="9326880" cy="731520"/>
          </a:xfrm>
          <a:prstGeom prst="rect">
            <a:avLst/>
          </a:prstGeom>
          <a:noFill/>
          <a:ln/>
        </p:spPr>
        <p:txBody>
          <a:bodyPr wrap="square" lIns="0" tIns="0" rIns="0" bIns="0" rtlCol="0" anchor="ctr"/>
          <a:lstStyle/>
          <a:p>
            <a:pPr algn="l" indent="0" marL="0">
              <a:buNone/>
            </a:pPr>
            <a:r>
              <a:rPr lang="en-US" sz="3400" b="1" dirty="0">
                <a:solidFill>
                  <a:schemeClr val="tx2"/>
                </a:solidFill>
              </a:rPr>
              <a:t>System Architecture and Workflow</a:t>
            </a:r>
            <a:endParaRPr lang="en-US" sz="3400" dirty="0"/>
          </a:p>
        </p:txBody>
      </p:sp>
      <p:sp>
        <p:nvSpPr>
          <p:cNvPr id="3" name="CLI commands"/>
          <p:cNvSpPr/>
          <p:nvPr/>
        </p:nvSpPr>
        <p:spPr>
          <a:xfrm>
            <a:off x="548640" y="2011680"/>
            <a:ext cx="3017520" cy="1280160"/>
          </a:xfrm>
          <a:prstGeom prst="roundRect">
            <a:avLst>
              <a:gd name="adj" fmla="val 7143"/>
            </a:avLst>
          </a:prstGeom>
          <a:solidFill>
            <a:schemeClr val="accent3"/>
          </a:solidFill>
          <a:ln/>
        </p:spPr>
      </p:sp>
      <p:sp>
        <p:nvSpPr>
          <p:cNvPr id="4" name="Text 2"/>
          <p:cNvSpPr txBox="1"/>
          <p:nvPr/>
        </p:nvSpPr>
        <p:spPr>
          <a:xfrm>
            <a:off x="685800" y="2011680"/>
            <a:ext cx="2743200" cy="1280160"/>
          </a:xfrm>
          <a:prstGeom prst="rect">
            <a:avLst/>
          </a:prstGeom>
          <a:noFill/>
          <a:ln/>
        </p:spPr>
        <p:txBody>
          <a:bodyPr wrap="square" lIns="0" tIns="0" rIns="0" bIns="0" rtlCol="0" anchor="ctr"/>
          <a:lstStyle/>
          <a:p>
            <a:pPr algn="ctr" indent="0" marL="0">
              <a:buNone/>
            </a:pPr>
            <a:r>
              <a:rPr lang="en-US" sz="1700" b="1" dirty="0">
                <a:solidFill>
                  <a:schemeClr val="bg1"/>
                </a:solidFill>
              </a:rPr>
              <a:t>CLI commands</a:t>
            </a:r>
            <a:endParaRPr lang="en-US" sz="1600" dirty="0"/>
          </a:p>
          <a:p>
            <a:pPr algn="ctr" indent="0" marL="0">
              <a:buNone/>
            </a:pPr>
            <a:r>
              <a:rPr lang="en-US" sz="1300" dirty="0">
                <a:solidFill>
                  <a:schemeClr val="bg1"/>
                </a:solidFill>
              </a:rPr>
              <a:t>add · list · remove · log · stop</a:t>
            </a:r>
            <a:endParaRPr lang="en-US" sz="1600" dirty="0"/>
          </a:p>
        </p:txBody>
      </p:sp>
      <p:sp>
        <p:nvSpPr>
          <p:cNvPr id="5" name="Job table"/>
          <p:cNvSpPr/>
          <p:nvPr/>
        </p:nvSpPr>
        <p:spPr>
          <a:xfrm>
            <a:off x="4572000" y="2011680"/>
            <a:ext cx="3017520" cy="1280160"/>
          </a:xfrm>
          <a:prstGeom prst="roundRect">
            <a:avLst>
              <a:gd name="adj" fmla="val 7143"/>
            </a:avLst>
          </a:prstGeom>
          <a:solidFill>
            <a:schemeClr val="accent1"/>
          </a:solidFill>
          <a:ln/>
        </p:spPr>
      </p:sp>
      <p:sp>
        <p:nvSpPr>
          <p:cNvPr id="6" name="Text 4"/>
          <p:cNvSpPr txBox="1"/>
          <p:nvPr/>
        </p:nvSpPr>
        <p:spPr>
          <a:xfrm>
            <a:off x="4709160" y="2011680"/>
            <a:ext cx="2743200" cy="1280160"/>
          </a:xfrm>
          <a:prstGeom prst="rect">
            <a:avLst/>
          </a:prstGeom>
          <a:noFill/>
          <a:ln/>
        </p:spPr>
        <p:txBody>
          <a:bodyPr wrap="square" lIns="0" tIns="0" rIns="0" bIns="0" rtlCol="0" anchor="ctr"/>
          <a:lstStyle/>
          <a:p>
            <a:pPr algn="ctr" indent="0" marL="0">
              <a:buNone/>
            </a:pPr>
            <a:r>
              <a:rPr lang="en-US" sz="1700" b="1" dirty="0">
                <a:solidFill>
                  <a:schemeClr val="bg1"/>
                </a:solidFill>
              </a:rPr>
              <a:t>Job table</a:t>
            </a:r>
            <a:endParaRPr lang="en-US" sz="1600" dirty="0"/>
          </a:p>
          <a:p>
            <a:pPr algn="ctr" indent="0" marL="0">
              <a:buNone/>
            </a:pPr>
            <a:r>
              <a:rPr lang="en-US" sz="1300" dirty="0">
                <a:solidFill>
                  <a:schemeClr val="bg1"/>
                </a:solidFill>
              </a:rPr>
              <a:t>~/.jobsched/jobs.db</a:t>
            </a:r>
            <a:endParaRPr lang="en-US" sz="1600" dirty="0"/>
          </a:p>
        </p:txBody>
      </p:sp>
      <p:sp>
        <p:nvSpPr>
          <p:cNvPr id="7" name="Scheduler daemon"/>
          <p:cNvSpPr/>
          <p:nvPr/>
        </p:nvSpPr>
        <p:spPr>
          <a:xfrm>
            <a:off x="8622792" y="2011680"/>
            <a:ext cx="3017520" cy="1280160"/>
          </a:xfrm>
          <a:prstGeom prst="roundRect">
            <a:avLst>
              <a:gd name="adj" fmla="val 7143"/>
            </a:avLst>
          </a:prstGeom>
          <a:solidFill>
            <a:schemeClr val="tx2"/>
          </a:solidFill>
          <a:ln/>
        </p:spPr>
      </p:sp>
      <p:sp>
        <p:nvSpPr>
          <p:cNvPr id="8" name="Text 6"/>
          <p:cNvSpPr txBox="1"/>
          <p:nvPr/>
        </p:nvSpPr>
        <p:spPr>
          <a:xfrm>
            <a:off x="8759952" y="2011680"/>
            <a:ext cx="2743200" cy="1280160"/>
          </a:xfrm>
          <a:prstGeom prst="rect">
            <a:avLst/>
          </a:prstGeom>
          <a:noFill/>
          <a:ln/>
        </p:spPr>
        <p:txBody>
          <a:bodyPr wrap="square" lIns="0" tIns="0" rIns="0" bIns="0" rtlCol="0" anchor="ctr"/>
          <a:lstStyle/>
          <a:p>
            <a:pPr algn="ctr" indent="0" marL="0">
              <a:buNone/>
            </a:pPr>
            <a:r>
              <a:rPr lang="en-US" sz="1700" b="1" dirty="0">
                <a:solidFill>
                  <a:schemeClr val="bg1"/>
                </a:solidFill>
              </a:rPr>
              <a:t>Scheduler daemon</a:t>
            </a:r>
            <a:endParaRPr lang="en-US" sz="1600" dirty="0"/>
          </a:p>
          <a:p>
            <a:pPr algn="ctr" indent="0" marL="0">
              <a:buNone/>
            </a:pPr>
            <a:r>
              <a:rPr lang="en-US" sz="1300" dirty="0">
                <a:solidFill>
                  <a:schemeClr val="bg1"/>
                </a:solidFill>
              </a:rPr>
              <a:t>checks the table every 1 s</a:t>
            </a:r>
            <a:endParaRPr lang="en-US" sz="1600" dirty="0"/>
          </a:p>
        </p:txBody>
      </p:sp>
      <p:sp>
        <p:nvSpPr>
          <p:cNvPr id="9" name="CLI writes table"/>
          <p:cNvSpPr/>
          <p:nvPr/>
        </p:nvSpPr>
        <p:spPr>
          <a:xfrm>
            <a:off x="3566160" y="2651760"/>
            <a:ext cx="1005840" cy="0"/>
          </a:xfrm>
          <a:prstGeom prst="line">
            <a:avLst/>
          </a:prstGeom>
          <a:noFill/>
          <a:ln w="25400">
            <a:solidFill>
              <a:schemeClr val="accent4"/>
            </a:solidFill>
            <a:prstDash val="solid"/>
            <a:tailEnd type="triangle"/>
          </a:ln>
        </p:spPr>
      </p:sp>
      <p:sp>
        <p:nvSpPr>
          <p:cNvPr id="10" name="Daemon reads and updates table"/>
          <p:cNvSpPr/>
          <p:nvPr/>
        </p:nvSpPr>
        <p:spPr>
          <a:xfrm flipH="1">
            <a:off x="7589520" y="2926080"/>
            <a:ext cx="1033272" cy="0"/>
          </a:xfrm>
          <a:prstGeom prst="line">
            <a:avLst/>
          </a:prstGeom>
          <a:noFill/>
          <a:ln w="25400">
            <a:solidFill>
              <a:schemeClr val="accent4"/>
            </a:solidFill>
            <a:prstDash val="solid"/>
            <a:tailEnd type="triangle"/>
          </a:ln>
        </p:spPr>
      </p:sp>
      <p:sp>
        <p:nvSpPr>
          <p:cNvPr id="11" name="Text 9"/>
          <p:cNvSpPr txBox="1"/>
          <p:nvPr/>
        </p:nvSpPr>
        <p:spPr>
          <a:xfrm>
            <a:off x="3566160" y="2286000"/>
            <a:ext cx="1005840" cy="274320"/>
          </a:xfrm>
          <a:prstGeom prst="rect">
            <a:avLst/>
          </a:prstGeom>
          <a:noFill/>
          <a:ln/>
        </p:spPr>
        <p:txBody>
          <a:bodyPr wrap="square" lIns="0" tIns="0" rIns="0" bIns="0" rtlCol="0" anchor="t"/>
          <a:lstStyle/>
          <a:p>
            <a:pPr algn="ctr" indent="0" marL="0">
              <a:buNone/>
            </a:pPr>
            <a:r>
              <a:rPr lang="en-US" sz="1200" dirty="0">
                <a:solidFill>
                  <a:schemeClr val="accent4"/>
                </a:solidFill>
              </a:rPr>
              <a:t>writes</a:t>
            </a:r>
            <a:endParaRPr lang="en-US" sz="1200" dirty="0"/>
          </a:p>
        </p:txBody>
      </p:sp>
      <p:sp>
        <p:nvSpPr>
          <p:cNvPr id="12" name="Text 10"/>
          <p:cNvSpPr txBox="1"/>
          <p:nvPr/>
        </p:nvSpPr>
        <p:spPr>
          <a:xfrm>
            <a:off x="7589520" y="2331720"/>
            <a:ext cx="1033272" cy="457200"/>
          </a:xfrm>
          <a:prstGeom prst="rect">
            <a:avLst/>
          </a:prstGeom>
          <a:noFill/>
          <a:ln/>
        </p:spPr>
        <p:txBody>
          <a:bodyPr wrap="square" lIns="0" tIns="0" rIns="0" bIns="0" rtlCol="0" anchor="t"/>
          <a:lstStyle/>
          <a:p>
            <a:pPr algn="ctr" indent="0" marL="0">
              <a:buNone/>
            </a:pPr>
            <a:r>
              <a:rPr lang="en-US" sz="1200" dirty="0">
                <a:solidFill>
                  <a:schemeClr val="accent4"/>
                </a:solidFill>
              </a:rPr>
              <a:t>reads / updates</a:t>
            </a:r>
            <a:endParaRPr lang="en-US" sz="1200" dirty="0"/>
          </a:p>
        </p:txBody>
      </p:sp>
      <p:sp>
        <p:nvSpPr>
          <p:cNvPr id="13" name="Text 11"/>
          <p:cNvSpPr txBox="1"/>
          <p:nvPr/>
        </p:nvSpPr>
        <p:spPr>
          <a:xfrm>
            <a:off x="548640" y="1417320"/>
            <a:ext cx="11091672" cy="320040"/>
          </a:xfrm>
          <a:prstGeom prst="rect">
            <a:avLst/>
          </a:prstGeom>
          <a:noFill/>
          <a:ln/>
        </p:spPr>
        <p:txBody>
          <a:bodyPr wrap="square" lIns="0" tIns="0" rIns="0" bIns="0" rtlCol="0" anchor="t"/>
          <a:lstStyle/>
          <a:p>
            <a:pPr algn="ctr" indent="0" marL="0">
              <a:buNone/>
            </a:pPr>
            <a:r>
              <a:rPr lang="en-US" sz="1400" b="1" dirty="0">
                <a:solidFill>
                  <a:schemeClr val="accent1"/>
                </a:solidFill>
              </a:rPr>
              <a:t>flock() lock: only one of CLI / daemon edits the table at a time</a:t>
            </a:r>
            <a:endParaRPr lang="en-US" sz="1400" dirty="0"/>
          </a:p>
        </p:txBody>
      </p:sp>
      <p:sp>
        <p:nvSpPr>
          <p:cNvPr id="14" name="Child process"/>
          <p:cNvSpPr/>
          <p:nvPr/>
        </p:nvSpPr>
        <p:spPr>
          <a:xfrm>
            <a:off x="8622792" y="4389120"/>
            <a:ext cx="3017520" cy="1280160"/>
          </a:xfrm>
          <a:prstGeom prst="roundRect">
            <a:avLst>
              <a:gd name="adj" fmla="val 7143"/>
            </a:avLst>
          </a:prstGeom>
          <a:solidFill>
            <a:schemeClr val="accent5"/>
          </a:solidFill>
          <a:ln/>
        </p:spPr>
      </p:sp>
      <p:sp>
        <p:nvSpPr>
          <p:cNvPr id="15" name="Text 13"/>
          <p:cNvSpPr txBox="1"/>
          <p:nvPr/>
        </p:nvSpPr>
        <p:spPr>
          <a:xfrm>
            <a:off x="8759952" y="4389120"/>
            <a:ext cx="2743200" cy="1280160"/>
          </a:xfrm>
          <a:prstGeom prst="rect">
            <a:avLst/>
          </a:prstGeom>
          <a:noFill/>
          <a:ln/>
        </p:spPr>
        <p:txBody>
          <a:bodyPr wrap="square" lIns="0" tIns="0" rIns="0" bIns="0" rtlCol="0" anchor="ctr"/>
          <a:lstStyle/>
          <a:p>
            <a:pPr algn="ctr" indent="0" marL="0">
              <a:buNone/>
            </a:pPr>
            <a:r>
              <a:rPr lang="en-US" sz="1700" b="1" dirty="0">
                <a:solidFill>
                  <a:schemeClr val="bg1"/>
                </a:solidFill>
              </a:rPr>
              <a:t>Child process</a:t>
            </a:r>
            <a:endParaRPr lang="en-US" sz="1600" dirty="0"/>
          </a:p>
          <a:p>
            <a:pPr algn="ctr" indent="0" marL="0">
              <a:buNone/>
            </a:pPr>
            <a:r>
              <a:rPr lang="en-US" sz="1300" dirty="0">
                <a:solidFill>
                  <a:schemeClr val="bg1"/>
                </a:solidFill>
              </a:rPr>
              <a:t>fork() + execl(/bin/sh -c cmd)</a:t>
            </a:r>
            <a:endParaRPr lang="en-US" sz="1600" dirty="0"/>
          </a:p>
        </p:txBody>
      </p:sp>
      <p:sp>
        <p:nvSpPr>
          <p:cNvPr id="16" name="Daemon forks child"/>
          <p:cNvSpPr/>
          <p:nvPr/>
        </p:nvSpPr>
        <p:spPr>
          <a:xfrm>
            <a:off x="10131552" y="3291840"/>
            <a:ext cx="0" cy="1097280"/>
          </a:xfrm>
          <a:prstGeom prst="line">
            <a:avLst/>
          </a:prstGeom>
          <a:noFill/>
          <a:ln w="25400">
            <a:solidFill>
              <a:schemeClr val="accent4"/>
            </a:solidFill>
            <a:prstDash val="solid"/>
            <a:tailEnd type="triangle"/>
          </a:ln>
        </p:spPr>
      </p:sp>
      <p:sp>
        <p:nvSpPr>
          <p:cNvPr id="17" name="Log file"/>
          <p:cNvSpPr/>
          <p:nvPr/>
        </p:nvSpPr>
        <p:spPr>
          <a:xfrm>
            <a:off x="4572000" y="4389120"/>
            <a:ext cx="3017520" cy="1280160"/>
          </a:xfrm>
          <a:prstGeom prst="roundRect">
            <a:avLst>
              <a:gd name="adj" fmla="val 7143"/>
            </a:avLst>
          </a:prstGeom>
          <a:solidFill>
            <a:schemeClr val="accent3"/>
          </a:solidFill>
          <a:ln/>
        </p:spPr>
      </p:sp>
      <p:sp>
        <p:nvSpPr>
          <p:cNvPr id="18" name="Text 16"/>
          <p:cNvSpPr txBox="1"/>
          <p:nvPr/>
        </p:nvSpPr>
        <p:spPr>
          <a:xfrm>
            <a:off x="4709160" y="4389120"/>
            <a:ext cx="2743200" cy="1280160"/>
          </a:xfrm>
          <a:prstGeom prst="rect">
            <a:avLst/>
          </a:prstGeom>
          <a:noFill/>
          <a:ln/>
        </p:spPr>
        <p:txBody>
          <a:bodyPr wrap="square" lIns="0" tIns="0" rIns="0" bIns="0" rtlCol="0" anchor="ctr"/>
          <a:lstStyle/>
          <a:p>
            <a:pPr algn="ctr" indent="0" marL="0">
              <a:buNone/>
            </a:pPr>
            <a:r>
              <a:rPr lang="en-US" sz="1700" b="1" dirty="0">
                <a:solidFill>
                  <a:schemeClr val="bg1"/>
                </a:solidFill>
              </a:rPr>
              <a:t>Log file</a:t>
            </a:r>
            <a:endParaRPr lang="en-US" sz="1600" dirty="0"/>
          </a:p>
          <a:p>
            <a:pPr algn="ctr" indent="0" marL="0">
              <a:buNone/>
            </a:pPr>
            <a:r>
              <a:rPr lang="en-US" sz="1300" dirty="0">
                <a:solidFill>
                  <a:schemeClr val="bg1"/>
                </a:solidFill>
              </a:rPr>
              <a:t>~/.jobsched/jobsched.log</a:t>
            </a:r>
            <a:endParaRPr lang="en-US" sz="1600" dirty="0"/>
          </a:p>
        </p:txBody>
      </p:sp>
      <p:sp>
        <p:nvSpPr>
          <p:cNvPr id="19" name="Child output to log"/>
          <p:cNvSpPr/>
          <p:nvPr/>
        </p:nvSpPr>
        <p:spPr>
          <a:xfrm flipH="1">
            <a:off x="7589520" y="5029200"/>
            <a:ext cx="1033272" cy="0"/>
          </a:xfrm>
          <a:prstGeom prst="line">
            <a:avLst/>
          </a:prstGeom>
          <a:noFill/>
          <a:ln w="25400">
            <a:solidFill>
              <a:schemeClr val="accent4"/>
            </a:solidFill>
            <a:prstDash val="solid"/>
            <a:tailEnd type="triangle"/>
          </a:ln>
        </p:spPr>
      </p:sp>
      <p:sp>
        <p:nvSpPr>
          <p:cNvPr id="20" name="PID file"/>
          <p:cNvSpPr/>
          <p:nvPr/>
        </p:nvSpPr>
        <p:spPr>
          <a:xfrm>
            <a:off x="548640" y="4389120"/>
            <a:ext cx="3017520" cy="1280160"/>
          </a:xfrm>
          <a:prstGeom prst="roundRect">
            <a:avLst>
              <a:gd name="adj" fmla="val 7143"/>
            </a:avLst>
          </a:prstGeom>
          <a:solidFill>
            <a:schemeClr val="accent4"/>
          </a:solidFill>
          <a:ln/>
        </p:spPr>
      </p:sp>
      <p:sp>
        <p:nvSpPr>
          <p:cNvPr id="21" name="Text 19"/>
          <p:cNvSpPr txBox="1"/>
          <p:nvPr/>
        </p:nvSpPr>
        <p:spPr>
          <a:xfrm>
            <a:off x="685800" y="4389120"/>
            <a:ext cx="2743200" cy="1280160"/>
          </a:xfrm>
          <a:prstGeom prst="rect">
            <a:avLst/>
          </a:prstGeom>
          <a:noFill/>
          <a:ln/>
        </p:spPr>
        <p:txBody>
          <a:bodyPr wrap="square" lIns="0" tIns="0" rIns="0" bIns="0" rtlCol="0" anchor="ctr"/>
          <a:lstStyle/>
          <a:p>
            <a:pPr algn="ctr" indent="0" marL="0">
              <a:buNone/>
            </a:pPr>
            <a:r>
              <a:rPr lang="en-US" sz="1700" b="1" dirty="0">
                <a:solidFill>
                  <a:schemeClr val="bg1"/>
                </a:solidFill>
              </a:rPr>
              <a:t>PID file</a:t>
            </a:r>
            <a:endParaRPr lang="en-US" sz="1600" dirty="0"/>
          </a:p>
          <a:p>
            <a:pPr algn="ctr" indent="0" marL="0">
              <a:buNone/>
            </a:pPr>
            <a:r>
              <a:rPr lang="en-US" sz="1300" dirty="0">
                <a:solidFill>
                  <a:schemeClr val="bg1"/>
                </a:solidFill>
              </a:rPr>
              <a:t>~/.jobsched/jobsched.pid</a:t>
            </a:r>
            <a:endParaRPr lang="en-US" sz="1600" dirty="0"/>
          </a:p>
        </p:txBody>
      </p:sp>
      <p:sp>
        <p:nvSpPr>
          <p:cNvPr id="22" name="CLI reads PID for stop/status"/>
          <p:cNvSpPr/>
          <p:nvPr/>
        </p:nvSpPr>
        <p:spPr>
          <a:xfrm>
            <a:off x="2057400" y="3291840"/>
            <a:ext cx="0" cy="1097280"/>
          </a:xfrm>
          <a:prstGeom prst="line">
            <a:avLst/>
          </a:prstGeom>
          <a:noFill/>
          <a:ln w="25400">
            <a:solidFill>
              <a:schemeClr val="accent4"/>
            </a:solidFill>
            <a:prstDash val="solid"/>
            <a:tailEnd type="triangle"/>
          </a:ln>
        </p:spPr>
      </p:sp>
      <p:sp>
        <p:nvSpPr>
          <p:cNvPr id="23" name="Text 21"/>
          <p:cNvSpPr txBox="1"/>
          <p:nvPr/>
        </p:nvSpPr>
        <p:spPr>
          <a:xfrm>
            <a:off x="2194560" y="3657600"/>
            <a:ext cx="1463040" cy="274320"/>
          </a:xfrm>
          <a:prstGeom prst="rect">
            <a:avLst/>
          </a:prstGeom>
          <a:noFill/>
          <a:ln/>
        </p:spPr>
        <p:txBody>
          <a:bodyPr wrap="square" lIns="0" tIns="0" rIns="0" bIns="0" rtlCol="0" anchor="t"/>
          <a:lstStyle/>
          <a:p>
            <a:pPr indent="0" marL="0">
              <a:buNone/>
            </a:pPr>
            <a:r>
              <a:rPr lang="en-US" sz="1200" dirty="0">
                <a:solidFill>
                  <a:schemeClr val="accent4"/>
                </a:solidFill>
              </a:rPr>
              <a:t>stop / status</a:t>
            </a:r>
            <a:endParaRPr lang="en-US" sz="1200" dirty="0"/>
          </a:p>
        </p:txBody>
      </p:sp>
      <p:sp>
        <p:nvSpPr>
          <p:cNvPr id="24" name="Text 22"/>
          <p:cNvSpPr txBox="1"/>
          <p:nvPr/>
        </p:nvSpPr>
        <p:spPr>
          <a:xfrm>
            <a:off x="7589520" y="4617720"/>
            <a:ext cx="1033272" cy="365760"/>
          </a:xfrm>
          <a:prstGeom prst="rect">
            <a:avLst/>
          </a:prstGeom>
          <a:noFill/>
          <a:ln/>
        </p:spPr>
        <p:txBody>
          <a:bodyPr wrap="square" lIns="0" tIns="0" rIns="0" bIns="0" rtlCol="0" anchor="t"/>
          <a:lstStyle/>
          <a:p>
            <a:pPr algn="ctr" indent="0" marL="0">
              <a:buNone/>
            </a:pPr>
            <a:r>
              <a:rPr lang="en-US" sz="1100" dirty="0">
                <a:solidFill>
                  <a:schemeClr val="accent4"/>
                </a:solidFill>
              </a:rPr>
              <a:t>stdout + stderr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txBox="1"/>
          <p:nvPr>
            <p:ph idx="104" type="title" hasCustomPrompt="1"/>
          </p:nvPr>
        </p:nvSpPr>
        <p:spPr>
          <a:xfrm>
            <a:off x="548640" y="365760"/>
            <a:ext cx="9326880" cy="731520"/>
          </a:xfrm>
          <a:prstGeom prst="rect">
            <a:avLst/>
          </a:prstGeom>
          <a:noFill/>
          <a:ln/>
        </p:spPr>
        <p:txBody>
          <a:bodyPr wrap="square" lIns="0" tIns="0" rIns="0" bIns="0" rtlCol="0" anchor="ctr"/>
          <a:lstStyle/>
          <a:p>
            <a:pPr algn="l" indent="0" marL="0">
              <a:buNone/>
            </a:pPr>
            <a:r>
              <a:rPr lang="en-US" sz="3400" b="1" dirty="0">
                <a:solidFill>
                  <a:schemeClr val="tx2"/>
                </a:solidFill>
              </a:rPr>
              <a:t>Main Modules and Technologies</a:t>
            </a:r>
            <a:endParaRPr lang="en-US" sz="3400" dirty="0"/>
          </a:p>
        </p:txBody>
      </p:sp>
      <p:sp>
        <p:nvSpPr>
          <p:cNvPr id="3" name="Module Time parser"/>
          <p:cNvSpPr/>
          <p:nvPr/>
        </p:nvSpPr>
        <p:spPr>
          <a:xfrm>
            <a:off x="548640" y="1463040"/>
            <a:ext cx="3383280" cy="1371600"/>
          </a:xfrm>
          <a:prstGeom prst="roundRect">
            <a:avLst>
              <a:gd name="adj" fmla="val 6667"/>
            </a:avLst>
          </a:prstGeom>
          <a:solidFill>
            <a:schemeClr val="bg2"/>
          </a:solidFill>
          <a:ln/>
        </p:spPr>
      </p:sp>
      <p:sp>
        <p:nvSpPr>
          <p:cNvPr id="4" name="Text 2"/>
          <p:cNvSpPr txBox="1"/>
          <p:nvPr/>
        </p:nvSpPr>
        <p:spPr>
          <a:xfrm>
            <a:off x="731520" y="1600200"/>
            <a:ext cx="3017520" cy="365760"/>
          </a:xfrm>
          <a:prstGeom prst="rect">
            <a:avLst/>
          </a:prstGeom>
          <a:noFill/>
          <a:ln/>
        </p:spPr>
        <p:txBody>
          <a:bodyPr wrap="square" lIns="0" tIns="0" rIns="0" bIns="0" rtlCol="0" anchor="t"/>
          <a:lstStyle/>
          <a:p>
            <a:pPr indent="0" marL="0">
              <a:buNone/>
            </a:pPr>
            <a:r>
              <a:rPr lang="en-US" sz="1800" b="1" dirty="0">
                <a:solidFill>
                  <a:schemeClr val="tx2"/>
                </a:solidFill>
              </a:rPr>
              <a:t>Time parser</a:t>
            </a:r>
            <a:endParaRPr lang="en-US" sz="1800" dirty="0"/>
          </a:p>
        </p:txBody>
      </p:sp>
      <p:sp>
        <p:nvSpPr>
          <p:cNvPr id="5" name="Text 3"/>
          <p:cNvSpPr txBox="1"/>
          <p:nvPr/>
        </p:nvSpPr>
        <p:spPr>
          <a:xfrm>
            <a:off x="731520" y="2057400"/>
            <a:ext cx="3017520" cy="68580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parse_when(), parse_duration()</a:t>
            </a:r>
            <a:endParaRPr lang="en-US" sz="1300" dirty="0"/>
          </a:p>
        </p:txBody>
      </p:sp>
      <p:sp>
        <p:nvSpPr>
          <p:cNvPr id="6" name="Module Job store"/>
          <p:cNvSpPr/>
          <p:nvPr/>
        </p:nvSpPr>
        <p:spPr>
          <a:xfrm>
            <a:off x="4114800" y="1463040"/>
            <a:ext cx="3383280" cy="1371600"/>
          </a:xfrm>
          <a:prstGeom prst="roundRect">
            <a:avLst>
              <a:gd name="adj" fmla="val 6667"/>
            </a:avLst>
          </a:prstGeom>
          <a:solidFill>
            <a:schemeClr val="bg2"/>
          </a:solidFill>
          <a:ln/>
        </p:spPr>
      </p:sp>
      <p:sp>
        <p:nvSpPr>
          <p:cNvPr id="7" name="Text 5"/>
          <p:cNvSpPr txBox="1"/>
          <p:nvPr/>
        </p:nvSpPr>
        <p:spPr>
          <a:xfrm>
            <a:off x="4297680" y="1600200"/>
            <a:ext cx="3017520" cy="365760"/>
          </a:xfrm>
          <a:prstGeom prst="rect">
            <a:avLst/>
          </a:prstGeom>
          <a:noFill/>
          <a:ln/>
        </p:spPr>
        <p:txBody>
          <a:bodyPr wrap="square" lIns="0" tIns="0" rIns="0" bIns="0" rtlCol="0" anchor="t"/>
          <a:lstStyle/>
          <a:p>
            <a:pPr indent="0" marL="0">
              <a:buNone/>
            </a:pPr>
            <a:r>
              <a:rPr lang="en-US" sz="1800" b="1" dirty="0">
                <a:solidFill>
                  <a:schemeClr val="tx2"/>
                </a:solidFill>
              </a:rPr>
              <a:t>Job store</a:t>
            </a:r>
            <a:endParaRPr lang="en-US" sz="1800" dirty="0"/>
          </a:p>
        </p:txBody>
      </p:sp>
      <p:sp>
        <p:nvSpPr>
          <p:cNvPr id="8" name="Text 6"/>
          <p:cNvSpPr txBox="1"/>
          <p:nvPr/>
        </p:nvSpPr>
        <p:spPr>
          <a:xfrm>
            <a:off x="4297680" y="2057400"/>
            <a:ext cx="3017520" cy="68580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load_jobs(), save_jobs()</a:t>
            </a:r>
            <a:endParaRPr lang="en-US" sz="1300" dirty="0"/>
          </a:p>
        </p:txBody>
      </p:sp>
      <p:sp>
        <p:nvSpPr>
          <p:cNvPr id="9" name="Module Lock manager"/>
          <p:cNvSpPr/>
          <p:nvPr/>
        </p:nvSpPr>
        <p:spPr>
          <a:xfrm>
            <a:off x="548640" y="3017520"/>
            <a:ext cx="3383280" cy="1371600"/>
          </a:xfrm>
          <a:prstGeom prst="roundRect">
            <a:avLst>
              <a:gd name="adj" fmla="val 6667"/>
            </a:avLst>
          </a:prstGeom>
          <a:solidFill>
            <a:schemeClr val="bg2"/>
          </a:solidFill>
          <a:ln/>
        </p:spPr>
      </p:sp>
      <p:sp>
        <p:nvSpPr>
          <p:cNvPr id="10" name="Text 8"/>
          <p:cNvSpPr txBox="1"/>
          <p:nvPr/>
        </p:nvSpPr>
        <p:spPr>
          <a:xfrm>
            <a:off x="731520" y="3154680"/>
            <a:ext cx="3017520" cy="365760"/>
          </a:xfrm>
          <a:prstGeom prst="rect">
            <a:avLst/>
          </a:prstGeom>
          <a:noFill/>
          <a:ln/>
        </p:spPr>
        <p:txBody>
          <a:bodyPr wrap="square" lIns="0" tIns="0" rIns="0" bIns="0" rtlCol="0" anchor="t"/>
          <a:lstStyle/>
          <a:p>
            <a:pPr indent="0" marL="0">
              <a:buNone/>
            </a:pPr>
            <a:r>
              <a:rPr lang="en-US" sz="1800" b="1" dirty="0">
                <a:solidFill>
                  <a:schemeClr val="tx2"/>
                </a:solidFill>
              </a:rPr>
              <a:t>Lock manager</a:t>
            </a:r>
            <a:endParaRPr lang="en-US" sz="1800" dirty="0"/>
          </a:p>
        </p:txBody>
      </p:sp>
      <p:sp>
        <p:nvSpPr>
          <p:cNvPr id="11" name="Text 9"/>
          <p:cNvSpPr txBox="1"/>
          <p:nvPr/>
        </p:nvSpPr>
        <p:spPr>
          <a:xfrm>
            <a:off x="731520" y="3611880"/>
            <a:ext cx="3017520" cy="68580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db_lock(), db_unlock()</a:t>
            </a:r>
            <a:endParaRPr lang="en-US" sz="1300" dirty="0"/>
          </a:p>
        </p:txBody>
      </p:sp>
      <p:sp>
        <p:nvSpPr>
          <p:cNvPr id="12" name="Module Scheduler loop"/>
          <p:cNvSpPr/>
          <p:nvPr/>
        </p:nvSpPr>
        <p:spPr>
          <a:xfrm>
            <a:off x="4114800" y="3017520"/>
            <a:ext cx="3383280" cy="1371600"/>
          </a:xfrm>
          <a:prstGeom prst="roundRect">
            <a:avLst>
              <a:gd name="adj" fmla="val 6667"/>
            </a:avLst>
          </a:prstGeom>
          <a:solidFill>
            <a:schemeClr val="bg2"/>
          </a:solidFill>
          <a:ln/>
        </p:spPr>
      </p:sp>
      <p:sp>
        <p:nvSpPr>
          <p:cNvPr id="13" name="Text 11"/>
          <p:cNvSpPr txBox="1"/>
          <p:nvPr/>
        </p:nvSpPr>
        <p:spPr>
          <a:xfrm>
            <a:off x="4297680" y="3154680"/>
            <a:ext cx="3017520" cy="365760"/>
          </a:xfrm>
          <a:prstGeom prst="rect">
            <a:avLst/>
          </a:prstGeom>
          <a:noFill/>
          <a:ln/>
        </p:spPr>
        <p:txBody>
          <a:bodyPr wrap="square" lIns="0" tIns="0" rIns="0" bIns="0" rtlCol="0" anchor="t"/>
          <a:lstStyle/>
          <a:p>
            <a:pPr indent="0" marL="0">
              <a:buNone/>
            </a:pPr>
            <a:r>
              <a:rPr lang="en-US" sz="1800" b="1" dirty="0">
                <a:solidFill>
                  <a:schemeClr val="tx2"/>
                </a:solidFill>
              </a:rPr>
              <a:t>Scheduler loop</a:t>
            </a:r>
            <a:endParaRPr lang="en-US" sz="1800" dirty="0"/>
          </a:p>
        </p:txBody>
      </p:sp>
      <p:sp>
        <p:nvSpPr>
          <p:cNvPr id="14" name="Text 12"/>
          <p:cNvSpPr txBox="1"/>
          <p:nvPr/>
        </p:nvSpPr>
        <p:spPr>
          <a:xfrm>
            <a:off x="4297680" y="3611880"/>
            <a:ext cx="3017520" cy="68580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scheduler_loop()</a:t>
            </a:r>
            <a:endParaRPr lang="en-US" sz="1300" dirty="0"/>
          </a:p>
        </p:txBody>
      </p:sp>
      <p:sp>
        <p:nvSpPr>
          <p:cNvPr id="15" name="Module Job runner"/>
          <p:cNvSpPr/>
          <p:nvPr/>
        </p:nvSpPr>
        <p:spPr>
          <a:xfrm>
            <a:off x="548640" y="4572000"/>
            <a:ext cx="3383280" cy="1371600"/>
          </a:xfrm>
          <a:prstGeom prst="roundRect">
            <a:avLst>
              <a:gd name="adj" fmla="val 6667"/>
            </a:avLst>
          </a:prstGeom>
          <a:solidFill>
            <a:schemeClr val="bg2"/>
          </a:solidFill>
          <a:ln/>
        </p:spPr>
      </p:sp>
      <p:sp>
        <p:nvSpPr>
          <p:cNvPr id="16" name="Text 14"/>
          <p:cNvSpPr txBox="1"/>
          <p:nvPr/>
        </p:nvSpPr>
        <p:spPr>
          <a:xfrm>
            <a:off x="731520" y="4709160"/>
            <a:ext cx="3017520" cy="365760"/>
          </a:xfrm>
          <a:prstGeom prst="rect">
            <a:avLst/>
          </a:prstGeom>
          <a:noFill/>
          <a:ln/>
        </p:spPr>
        <p:txBody>
          <a:bodyPr wrap="square" lIns="0" tIns="0" rIns="0" bIns="0" rtlCol="0" anchor="t"/>
          <a:lstStyle/>
          <a:p>
            <a:pPr indent="0" marL="0">
              <a:buNone/>
            </a:pPr>
            <a:r>
              <a:rPr lang="en-US" sz="1800" b="1" dirty="0">
                <a:solidFill>
                  <a:schemeClr val="tx2"/>
                </a:solidFill>
              </a:rPr>
              <a:t>Job runner</a:t>
            </a:r>
            <a:endParaRPr lang="en-US" sz="1800" dirty="0"/>
          </a:p>
        </p:txBody>
      </p:sp>
      <p:sp>
        <p:nvSpPr>
          <p:cNvPr id="17" name="Text 15"/>
          <p:cNvSpPr txBox="1"/>
          <p:nvPr/>
        </p:nvSpPr>
        <p:spPr>
          <a:xfrm>
            <a:off x="731520" y="5166360"/>
            <a:ext cx="3017520" cy="68580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run_job(), reap_children()</a:t>
            </a:r>
            <a:endParaRPr lang="en-US" sz="1300" dirty="0"/>
          </a:p>
        </p:txBody>
      </p:sp>
      <p:sp>
        <p:nvSpPr>
          <p:cNvPr id="18" name="Module Command layer"/>
          <p:cNvSpPr/>
          <p:nvPr/>
        </p:nvSpPr>
        <p:spPr>
          <a:xfrm>
            <a:off x="4114800" y="4572000"/>
            <a:ext cx="3383280" cy="1371600"/>
          </a:xfrm>
          <a:prstGeom prst="roundRect">
            <a:avLst>
              <a:gd name="adj" fmla="val 6667"/>
            </a:avLst>
          </a:prstGeom>
          <a:solidFill>
            <a:schemeClr val="bg2"/>
          </a:solidFill>
          <a:ln/>
        </p:spPr>
      </p:sp>
      <p:sp>
        <p:nvSpPr>
          <p:cNvPr id="19" name="Text 17"/>
          <p:cNvSpPr txBox="1"/>
          <p:nvPr/>
        </p:nvSpPr>
        <p:spPr>
          <a:xfrm>
            <a:off x="4297680" y="4709160"/>
            <a:ext cx="3017520" cy="365760"/>
          </a:xfrm>
          <a:prstGeom prst="rect">
            <a:avLst/>
          </a:prstGeom>
          <a:noFill/>
          <a:ln/>
        </p:spPr>
        <p:txBody>
          <a:bodyPr wrap="square" lIns="0" tIns="0" rIns="0" bIns="0" rtlCol="0" anchor="t"/>
          <a:lstStyle/>
          <a:p>
            <a:pPr indent="0" marL="0">
              <a:buNone/>
            </a:pPr>
            <a:r>
              <a:rPr lang="en-US" sz="1800" b="1" dirty="0">
                <a:solidFill>
                  <a:schemeClr val="tx2"/>
                </a:solidFill>
              </a:rPr>
              <a:t>Command layer</a:t>
            </a:r>
            <a:endParaRPr lang="en-US" sz="1800" dirty="0"/>
          </a:p>
        </p:txBody>
      </p:sp>
      <p:sp>
        <p:nvSpPr>
          <p:cNvPr id="20" name="Text 18"/>
          <p:cNvSpPr txBox="1"/>
          <p:nvPr/>
        </p:nvSpPr>
        <p:spPr>
          <a:xfrm>
            <a:off x="4297680" y="5166360"/>
            <a:ext cx="3017520" cy="68580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cmd_add, cmd_list, cmd_remove, cmd_start, cmd_stop</a:t>
            </a:r>
            <a:endParaRPr lang="en-US" sz="1300" dirty="0"/>
          </a:p>
        </p:txBody>
      </p:sp>
      <p:sp>
        <p:nvSpPr>
          <p:cNvPr id="21" name="Technology panel"/>
          <p:cNvSpPr/>
          <p:nvPr/>
        </p:nvSpPr>
        <p:spPr>
          <a:xfrm>
            <a:off x="7863840" y="1463040"/>
            <a:ext cx="3776472" cy="4480560"/>
          </a:xfrm>
          <a:prstGeom prst="roundRect">
            <a:avLst>
              <a:gd name="adj" fmla="val 2421"/>
            </a:avLst>
          </a:prstGeom>
          <a:solidFill>
            <a:schemeClr val="tx2"/>
          </a:solidFill>
          <a:ln/>
        </p:spPr>
      </p:sp>
      <p:sp>
        <p:nvSpPr>
          <p:cNvPr id="22" name="Text 20"/>
          <p:cNvSpPr txBox="1"/>
          <p:nvPr/>
        </p:nvSpPr>
        <p:spPr>
          <a:xfrm>
            <a:off x="8138160" y="1645920"/>
            <a:ext cx="320040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Technologies</a:t>
            </a:r>
            <a:endParaRPr lang="en-US" sz="2000" dirty="0"/>
          </a:p>
        </p:txBody>
      </p:sp>
      <p:sp>
        <p:nvSpPr>
          <p:cNvPr id="23" name="Text 21"/>
          <p:cNvSpPr txBox="1"/>
          <p:nvPr/>
        </p:nvSpPr>
        <p:spPr>
          <a:xfrm>
            <a:off x="8138160" y="2194560"/>
            <a:ext cx="329184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C (gcc 13.3)</a:t>
            </a:r>
            <a:endParaRPr lang="en-US" sz="1500" dirty="0"/>
          </a:p>
          <a:p>
            <a:pPr marL="342900" indent="-342900">
              <a:spcAft>
                <a:spcPts val="800"/>
              </a:spcAft>
              <a:buSzPct val="100000"/>
              <a:buChar char="•"/>
            </a:pPr>
            <a:r>
              <a:rPr lang="en-US" sz="1500" dirty="0">
                <a:solidFill>
                  <a:schemeClr val="bg1"/>
                </a:solidFill>
              </a:rPr>
              <a:t>Ubuntu 24.04 (build and test)</a:t>
            </a:r>
            <a:endParaRPr lang="en-US" sz="1500" dirty="0"/>
          </a:p>
          <a:p>
            <a:pPr marL="342900" indent="-342900">
              <a:spcAft>
                <a:spcPts val="800"/>
              </a:spcAft>
              <a:buSzPct val="100000"/>
              <a:buChar char="•"/>
            </a:pPr>
            <a:r>
              <a:rPr lang="en-US" sz="1500" dirty="0">
                <a:solidFill>
                  <a:schemeClr val="bg1"/>
                </a:solidFill>
              </a:rPr>
              <a:t>fork, execl, waitpid</a:t>
            </a:r>
            <a:endParaRPr lang="en-US" sz="1500" dirty="0"/>
          </a:p>
          <a:p>
            <a:pPr marL="342900" indent="-342900">
              <a:spcAft>
                <a:spcPts val="800"/>
              </a:spcAft>
              <a:buSzPct val="100000"/>
              <a:buChar char="•"/>
            </a:pPr>
            <a:r>
              <a:rPr lang="en-US" sz="1500" dirty="0">
                <a:solidFill>
                  <a:schemeClr val="bg1"/>
                </a:solidFill>
              </a:rPr>
              <a:t>setsid, sigaction, kill</a:t>
            </a:r>
            <a:endParaRPr lang="en-US" sz="1500" dirty="0"/>
          </a:p>
          <a:p>
            <a:pPr marL="342900" indent="-342900">
              <a:spcAft>
                <a:spcPts val="800"/>
              </a:spcAft>
              <a:buSzPct val="100000"/>
              <a:buChar char="•"/>
            </a:pPr>
            <a:r>
              <a:rPr lang="en-US" sz="1500" dirty="0">
                <a:solidFill>
                  <a:schemeClr val="bg1"/>
                </a:solidFill>
              </a:rPr>
              <a:t>flock, open, dup2</a:t>
            </a:r>
            <a:endParaRPr lang="en-US" sz="1500" dirty="0"/>
          </a:p>
          <a:p>
            <a:pPr marL="342900" indent="-342900">
              <a:spcAft>
                <a:spcPts val="800"/>
              </a:spcAft>
              <a:buSzPct val="100000"/>
              <a:buChar char="•"/>
            </a:pPr>
            <a:r>
              <a:rPr lang="en-US" sz="1500" dirty="0">
                <a:solidFill>
                  <a:schemeClr val="bg1"/>
                </a:solidFill>
              </a:rPr>
              <a:t>time, mktime, localtime_r</a:t>
            </a:r>
            <a:endParaRPr lang="en-US" sz="1500" dirty="0"/>
          </a:p>
          <a:p>
            <a:pPr marL="342900" indent="-342900">
              <a:spcAft>
                <a:spcPts val="800"/>
              </a:spcAft>
              <a:buSzPct val="100000"/>
              <a:buChar char="•"/>
            </a:pPr>
            <a:r>
              <a:rPr lang="en-US" sz="1500" dirty="0">
                <a:solidFill>
                  <a:schemeClr val="bg1"/>
                </a:solidFill>
              </a:rPr>
              <a:t>Plain-text files for storage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txBox="1"/>
          <p:nvPr>
            <p:ph idx="104" type="title" hasCustomPrompt="1"/>
          </p:nvPr>
        </p:nvSpPr>
        <p:spPr>
          <a:xfrm>
            <a:off x="548640" y="365760"/>
            <a:ext cx="9326880" cy="731520"/>
          </a:xfrm>
          <a:prstGeom prst="rect">
            <a:avLst/>
          </a:prstGeom>
          <a:noFill/>
          <a:ln/>
        </p:spPr>
        <p:txBody>
          <a:bodyPr wrap="square" lIns="0" tIns="0" rIns="0" bIns="0" rtlCol="0" anchor="ctr"/>
          <a:lstStyle/>
          <a:p>
            <a:pPr algn="l" indent="0" marL="0">
              <a:buNone/>
            </a:pPr>
            <a:r>
              <a:rPr lang="en-US" sz="3400" b="1" dirty="0">
                <a:solidFill>
                  <a:schemeClr val="tx2"/>
                </a:solidFill>
              </a:rPr>
              <a:t>Scheduling Algorithm and Job Lifecycle</a:t>
            </a:r>
            <a:endParaRPr lang="en-US" sz="3400" dirty="0"/>
          </a:p>
        </p:txBody>
      </p:sp>
      <p:sp>
        <p:nvSpPr>
          <p:cNvPr id="3" name="Algorithm panel"/>
          <p:cNvSpPr/>
          <p:nvPr/>
        </p:nvSpPr>
        <p:spPr>
          <a:xfrm>
            <a:off x="548640" y="1371600"/>
            <a:ext cx="5486400" cy="2743200"/>
          </a:xfrm>
          <a:prstGeom prst="roundRect">
            <a:avLst>
              <a:gd name="adj" fmla="val 2667"/>
            </a:avLst>
          </a:prstGeom>
          <a:solidFill>
            <a:schemeClr val="tx1"/>
          </a:solidFill>
          <a:ln/>
        </p:spPr>
      </p:sp>
      <p:sp>
        <p:nvSpPr>
          <p:cNvPr id="4" name="Text 2"/>
          <p:cNvSpPr txBox="1"/>
          <p:nvPr/>
        </p:nvSpPr>
        <p:spPr>
          <a:xfrm>
            <a:off x="777240" y="1463040"/>
            <a:ext cx="5029200" cy="274320"/>
          </a:xfrm>
          <a:prstGeom prst="rect">
            <a:avLst/>
          </a:prstGeom>
          <a:noFill/>
          <a:ln/>
        </p:spPr>
        <p:txBody>
          <a:bodyPr wrap="square" lIns="0" tIns="0" rIns="0" bIns="0" rtlCol="0" anchor="t"/>
          <a:lstStyle/>
          <a:p>
            <a:pPr indent="0" marL="0">
              <a:buNone/>
            </a:pPr>
            <a:r>
              <a:rPr lang="en-US" sz="1100" b="1" dirty="0">
                <a:solidFill>
                  <a:schemeClr val="accent2"/>
                </a:solidFill>
              </a:rPr>
              <a:t>scheduler_loop() — time-triggered polling</a:t>
            </a:r>
            <a:endParaRPr lang="en-US" sz="1100" dirty="0"/>
          </a:p>
        </p:txBody>
      </p:sp>
      <p:sp>
        <p:nvSpPr>
          <p:cNvPr id="5" name="Text 3"/>
          <p:cNvSpPr txBox="1"/>
          <p:nvPr/>
        </p:nvSpPr>
        <p:spPr>
          <a:xfrm>
            <a:off x="777240" y="1828800"/>
            <a:ext cx="5029200" cy="2194560"/>
          </a:xfrm>
          <a:prstGeom prst="rect">
            <a:avLst/>
          </a:prstGeom>
          <a:noFill/>
          <a:ln/>
        </p:spPr>
        <p:txBody>
          <a:bodyPr wrap="square" lIns="0" tIns="0" rIns="0" bIns="0" rtlCol="0" anchor="t"/>
          <a:lstStyle/>
          <a:p>
            <a:pPr indent="0" marL="0">
              <a:buNone/>
            </a:pPr>
            <a:r>
              <a:rPr lang="en-US" sz="1200" dirty="0">
                <a:solidFill>
                  <a:schemeClr val="bg2"/>
                </a:solidFill>
                <a:latin typeface="Courier New" pitchFamily="34" charset="0"/>
                <a:ea typeface="Courier New" pitchFamily="34" charset="-122"/>
                <a:cs typeface="Courier New" pitchFamily="34" charset="-120"/>
              </a:rPr>
              <a:t>every 1 second:</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lock job table; load jobs</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for each job not done:</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if run_at &lt;= now:</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fork + exec job</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repeat? run_at += interval</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else    done = 1</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save table; unlock</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reap finished children</a:t>
            </a:r>
            <a:endParaRPr lang="en-US" sz="1200" dirty="0"/>
          </a:p>
        </p:txBody>
      </p:sp>
      <p:sp>
        <p:nvSpPr>
          <p:cNvPr id="6" name="Text 4"/>
          <p:cNvSpPr txBox="1"/>
          <p:nvPr/>
        </p:nvSpPr>
        <p:spPr>
          <a:xfrm>
            <a:off x="548640" y="4343400"/>
            <a:ext cx="5486400" cy="1737360"/>
          </a:xfrm>
          <a:prstGeom prst="rect">
            <a:avLst/>
          </a:prstGeom>
          <a:noFill/>
          <a:ln/>
        </p:spPr>
        <p:txBody>
          <a:bodyPr wrap="square" lIns="0" tIns="0" rIns="0" bIns="0" rtlCol="0" anchor="t"/>
          <a:lstStyle/>
          <a:p>
            <a:pPr indent="0" marL="0">
              <a:buNone/>
            </a:pPr>
            <a:r>
              <a:rPr lang="en-US" sz="1500" dirty="0">
                <a:solidFill>
                  <a:schemeClr val="tx1"/>
                </a:solidFill>
              </a:rPr>
              <a:t>This is time-triggered scheduling, not priority or round-robin CPU scheduling. Jobs due in the same second start in table order. A repeating job skips missed runs instead of running them all.</a:t>
            </a:r>
            <a:endParaRPr lang="en-US" sz="1500" dirty="0"/>
          </a:p>
        </p:txBody>
      </p:sp>
      <p:sp>
        <p:nvSpPr>
          <p:cNvPr id="7" name="Stage Pending"/>
          <p:cNvSpPr/>
          <p:nvPr/>
        </p:nvSpPr>
        <p:spPr>
          <a:xfrm>
            <a:off x="6583680" y="1371600"/>
            <a:ext cx="5056632" cy="749808"/>
          </a:xfrm>
          <a:prstGeom prst="roundRect">
            <a:avLst>
              <a:gd name="adj" fmla="val 9756"/>
            </a:avLst>
          </a:prstGeom>
          <a:solidFill>
            <a:schemeClr val="bg2"/>
          </a:solidFill>
          <a:ln/>
        </p:spPr>
      </p:sp>
      <p:sp>
        <p:nvSpPr>
          <p:cNvPr id="8" name="Text 6"/>
          <p:cNvSpPr txBox="1"/>
          <p:nvPr/>
        </p:nvSpPr>
        <p:spPr>
          <a:xfrm>
            <a:off x="6812280" y="1371600"/>
            <a:ext cx="2103120" cy="749808"/>
          </a:xfrm>
          <a:prstGeom prst="rect">
            <a:avLst/>
          </a:prstGeom>
          <a:noFill/>
          <a:ln/>
        </p:spPr>
        <p:txBody>
          <a:bodyPr wrap="square" lIns="0" tIns="0" rIns="0" bIns="0" rtlCol="0" anchor="ctr"/>
          <a:lstStyle/>
          <a:p>
            <a:pPr indent="0" marL="0">
              <a:buNone/>
            </a:pPr>
            <a:r>
              <a:rPr lang="en-US" sz="1600" b="1" dirty="0">
                <a:solidFill>
                  <a:schemeClr val="tx2"/>
                </a:solidFill>
              </a:rPr>
              <a:t>Pending</a:t>
            </a:r>
            <a:endParaRPr lang="en-US" sz="1600" dirty="0"/>
          </a:p>
        </p:txBody>
      </p:sp>
      <p:sp>
        <p:nvSpPr>
          <p:cNvPr id="9" name="Text 7"/>
          <p:cNvSpPr txBox="1"/>
          <p:nvPr/>
        </p:nvSpPr>
        <p:spPr>
          <a:xfrm>
            <a:off x="8869680" y="1371600"/>
            <a:ext cx="2651760" cy="749808"/>
          </a:xfrm>
          <a:prstGeom prst="rect">
            <a:avLst/>
          </a:prstGeom>
          <a:noFill/>
          <a:ln/>
        </p:spPr>
        <p:txBody>
          <a:bodyPr wrap="square" lIns="0" tIns="0" rIns="0" bIns="0" rtlCol="0" anchor="ctr"/>
          <a:lstStyle/>
          <a:p>
            <a:pPr indent="0" marL="0">
              <a:buNone/>
            </a:pPr>
            <a:r>
              <a:rPr lang="en-US" sz="1300" dirty="0">
                <a:solidFill>
                  <a:schemeClr val="tx1"/>
                </a:solidFill>
              </a:rPr>
              <a:t>added to jobs.db</a:t>
            </a:r>
            <a:endParaRPr lang="en-US" sz="1300" dirty="0"/>
          </a:p>
        </p:txBody>
      </p:sp>
      <p:sp>
        <p:nvSpPr>
          <p:cNvPr id="10" name="Lifecycle arrow 1"/>
          <p:cNvSpPr/>
          <p:nvPr/>
        </p:nvSpPr>
        <p:spPr>
          <a:xfrm>
            <a:off x="9116568" y="2121408"/>
            <a:ext cx="0" cy="182880"/>
          </a:xfrm>
          <a:prstGeom prst="line">
            <a:avLst/>
          </a:prstGeom>
          <a:noFill/>
          <a:ln w="25400">
            <a:solidFill>
              <a:schemeClr val="accent4"/>
            </a:solidFill>
            <a:prstDash val="solid"/>
            <a:tailEnd type="triangle"/>
          </a:ln>
        </p:spPr>
      </p:sp>
      <p:sp>
        <p:nvSpPr>
          <p:cNvPr id="11" name="Stage Due"/>
          <p:cNvSpPr/>
          <p:nvPr/>
        </p:nvSpPr>
        <p:spPr>
          <a:xfrm>
            <a:off x="6583680" y="2304288"/>
            <a:ext cx="5056632" cy="749808"/>
          </a:xfrm>
          <a:prstGeom prst="roundRect">
            <a:avLst>
              <a:gd name="adj" fmla="val 9756"/>
            </a:avLst>
          </a:prstGeom>
          <a:solidFill>
            <a:schemeClr val="bg2"/>
          </a:solidFill>
          <a:ln/>
        </p:spPr>
      </p:sp>
      <p:sp>
        <p:nvSpPr>
          <p:cNvPr id="12" name="Text 10"/>
          <p:cNvSpPr txBox="1"/>
          <p:nvPr/>
        </p:nvSpPr>
        <p:spPr>
          <a:xfrm>
            <a:off x="6812280" y="2304288"/>
            <a:ext cx="2103120" cy="749808"/>
          </a:xfrm>
          <a:prstGeom prst="rect">
            <a:avLst/>
          </a:prstGeom>
          <a:noFill/>
          <a:ln/>
        </p:spPr>
        <p:txBody>
          <a:bodyPr wrap="square" lIns="0" tIns="0" rIns="0" bIns="0" rtlCol="0" anchor="ctr"/>
          <a:lstStyle/>
          <a:p>
            <a:pPr indent="0" marL="0">
              <a:buNone/>
            </a:pPr>
            <a:r>
              <a:rPr lang="en-US" sz="1600" b="1" dirty="0">
                <a:solidFill>
                  <a:schemeClr val="tx2"/>
                </a:solidFill>
              </a:rPr>
              <a:t>Due</a:t>
            </a:r>
            <a:endParaRPr lang="en-US" sz="1600" dirty="0"/>
          </a:p>
        </p:txBody>
      </p:sp>
      <p:sp>
        <p:nvSpPr>
          <p:cNvPr id="13" name="Text 11"/>
          <p:cNvSpPr txBox="1"/>
          <p:nvPr/>
        </p:nvSpPr>
        <p:spPr>
          <a:xfrm>
            <a:off x="8869680" y="2304288"/>
            <a:ext cx="2651760" cy="749808"/>
          </a:xfrm>
          <a:prstGeom prst="rect">
            <a:avLst/>
          </a:prstGeom>
          <a:noFill/>
          <a:ln/>
        </p:spPr>
        <p:txBody>
          <a:bodyPr wrap="square" lIns="0" tIns="0" rIns="0" bIns="0" rtlCol="0" anchor="ctr"/>
          <a:lstStyle/>
          <a:p>
            <a:pPr indent="0" marL="0">
              <a:buNone/>
            </a:pPr>
            <a:r>
              <a:rPr lang="en-US" sz="1300" dirty="0">
                <a:solidFill>
                  <a:schemeClr val="tx1"/>
                </a:solidFill>
              </a:rPr>
              <a:t>run_at &lt;= now</a:t>
            </a:r>
            <a:endParaRPr lang="en-US" sz="1300" dirty="0"/>
          </a:p>
        </p:txBody>
      </p:sp>
      <p:sp>
        <p:nvSpPr>
          <p:cNvPr id="14" name="Lifecycle arrow 2"/>
          <p:cNvSpPr/>
          <p:nvPr/>
        </p:nvSpPr>
        <p:spPr>
          <a:xfrm>
            <a:off x="9116568" y="3054096"/>
            <a:ext cx="0" cy="182880"/>
          </a:xfrm>
          <a:prstGeom prst="line">
            <a:avLst/>
          </a:prstGeom>
          <a:noFill/>
          <a:ln w="25400">
            <a:solidFill>
              <a:schemeClr val="accent4"/>
            </a:solidFill>
            <a:prstDash val="solid"/>
            <a:tailEnd type="triangle"/>
          </a:ln>
        </p:spPr>
      </p:sp>
      <p:sp>
        <p:nvSpPr>
          <p:cNvPr id="15" name="Stage Running"/>
          <p:cNvSpPr/>
          <p:nvPr/>
        </p:nvSpPr>
        <p:spPr>
          <a:xfrm>
            <a:off x="6583680" y="3236976"/>
            <a:ext cx="5056632" cy="749808"/>
          </a:xfrm>
          <a:prstGeom prst="roundRect">
            <a:avLst>
              <a:gd name="adj" fmla="val 9756"/>
            </a:avLst>
          </a:prstGeom>
          <a:solidFill>
            <a:schemeClr val="bg2"/>
          </a:solidFill>
          <a:ln/>
        </p:spPr>
      </p:sp>
      <p:sp>
        <p:nvSpPr>
          <p:cNvPr id="16" name="Text 14"/>
          <p:cNvSpPr txBox="1"/>
          <p:nvPr/>
        </p:nvSpPr>
        <p:spPr>
          <a:xfrm>
            <a:off x="6812280" y="3236976"/>
            <a:ext cx="2103120" cy="749808"/>
          </a:xfrm>
          <a:prstGeom prst="rect">
            <a:avLst/>
          </a:prstGeom>
          <a:noFill/>
          <a:ln/>
        </p:spPr>
        <p:txBody>
          <a:bodyPr wrap="square" lIns="0" tIns="0" rIns="0" bIns="0" rtlCol="0" anchor="ctr"/>
          <a:lstStyle/>
          <a:p>
            <a:pPr indent="0" marL="0">
              <a:buNone/>
            </a:pPr>
            <a:r>
              <a:rPr lang="en-US" sz="1600" b="1" dirty="0">
                <a:solidFill>
                  <a:schemeClr val="tx2"/>
                </a:solidFill>
              </a:rPr>
              <a:t>Running</a:t>
            </a:r>
            <a:endParaRPr lang="en-US" sz="1600" dirty="0"/>
          </a:p>
        </p:txBody>
      </p:sp>
      <p:sp>
        <p:nvSpPr>
          <p:cNvPr id="17" name="Text 15"/>
          <p:cNvSpPr txBox="1"/>
          <p:nvPr/>
        </p:nvSpPr>
        <p:spPr>
          <a:xfrm>
            <a:off x="8869680" y="3236976"/>
            <a:ext cx="2651760" cy="749808"/>
          </a:xfrm>
          <a:prstGeom prst="rect">
            <a:avLst/>
          </a:prstGeom>
          <a:noFill/>
          <a:ln/>
        </p:spPr>
        <p:txBody>
          <a:bodyPr wrap="square" lIns="0" tIns="0" rIns="0" bIns="0" rtlCol="0" anchor="ctr"/>
          <a:lstStyle/>
          <a:p>
            <a:pPr indent="0" marL="0">
              <a:buNone/>
            </a:pPr>
            <a:r>
              <a:rPr lang="en-US" sz="1300" dirty="0">
                <a:solidFill>
                  <a:schemeClr val="tx1"/>
                </a:solidFill>
              </a:rPr>
              <a:t>child: fork + exec</a:t>
            </a:r>
            <a:endParaRPr lang="en-US" sz="1300" dirty="0"/>
          </a:p>
        </p:txBody>
      </p:sp>
      <p:sp>
        <p:nvSpPr>
          <p:cNvPr id="18" name="Lifecycle arrow 3"/>
          <p:cNvSpPr/>
          <p:nvPr/>
        </p:nvSpPr>
        <p:spPr>
          <a:xfrm>
            <a:off x="9116568" y="3986784"/>
            <a:ext cx="0" cy="182880"/>
          </a:xfrm>
          <a:prstGeom prst="line">
            <a:avLst/>
          </a:prstGeom>
          <a:noFill/>
          <a:ln w="25400">
            <a:solidFill>
              <a:schemeClr val="accent4"/>
            </a:solidFill>
            <a:prstDash val="solid"/>
            <a:tailEnd type="triangle"/>
          </a:ln>
        </p:spPr>
      </p:sp>
      <p:sp>
        <p:nvSpPr>
          <p:cNvPr id="19" name="Stage Finished"/>
          <p:cNvSpPr/>
          <p:nvPr/>
        </p:nvSpPr>
        <p:spPr>
          <a:xfrm>
            <a:off x="6583680" y="4169664"/>
            <a:ext cx="5056632" cy="749808"/>
          </a:xfrm>
          <a:prstGeom prst="roundRect">
            <a:avLst>
              <a:gd name="adj" fmla="val 9756"/>
            </a:avLst>
          </a:prstGeom>
          <a:solidFill>
            <a:schemeClr val="bg2"/>
          </a:solidFill>
          <a:ln/>
        </p:spPr>
      </p:sp>
      <p:sp>
        <p:nvSpPr>
          <p:cNvPr id="20" name="Text 18"/>
          <p:cNvSpPr txBox="1"/>
          <p:nvPr/>
        </p:nvSpPr>
        <p:spPr>
          <a:xfrm>
            <a:off x="6812280" y="4169664"/>
            <a:ext cx="2103120" cy="749808"/>
          </a:xfrm>
          <a:prstGeom prst="rect">
            <a:avLst/>
          </a:prstGeom>
          <a:noFill/>
          <a:ln/>
        </p:spPr>
        <p:txBody>
          <a:bodyPr wrap="square" lIns="0" tIns="0" rIns="0" bIns="0" rtlCol="0" anchor="ctr"/>
          <a:lstStyle/>
          <a:p>
            <a:pPr indent="0" marL="0">
              <a:buNone/>
            </a:pPr>
            <a:r>
              <a:rPr lang="en-US" sz="1600" b="1" dirty="0">
                <a:solidFill>
                  <a:schemeClr val="tx2"/>
                </a:solidFill>
              </a:rPr>
              <a:t>Finished</a:t>
            </a:r>
            <a:endParaRPr lang="en-US" sz="1600" dirty="0"/>
          </a:p>
        </p:txBody>
      </p:sp>
      <p:sp>
        <p:nvSpPr>
          <p:cNvPr id="21" name="Text 19"/>
          <p:cNvSpPr txBox="1"/>
          <p:nvPr/>
        </p:nvSpPr>
        <p:spPr>
          <a:xfrm>
            <a:off x="8869680" y="4169664"/>
            <a:ext cx="2651760" cy="749808"/>
          </a:xfrm>
          <a:prstGeom prst="rect">
            <a:avLst/>
          </a:prstGeom>
          <a:noFill/>
          <a:ln/>
        </p:spPr>
        <p:txBody>
          <a:bodyPr wrap="square" lIns="0" tIns="0" rIns="0" bIns="0" rtlCol="0" anchor="ctr"/>
          <a:lstStyle/>
          <a:p>
            <a:pPr indent="0" marL="0">
              <a:buNone/>
            </a:pPr>
            <a:r>
              <a:rPr lang="en-US" sz="1300" dirty="0">
                <a:solidFill>
                  <a:schemeClr val="tx1"/>
                </a:solidFill>
              </a:rPr>
              <a:t>exit status logged</a:t>
            </a:r>
            <a:endParaRPr lang="en-US" sz="1300" dirty="0"/>
          </a:p>
        </p:txBody>
      </p:sp>
      <p:sp>
        <p:nvSpPr>
          <p:cNvPr id="22" name="Lifecycle arrow 4"/>
          <p:cNvSpPr/>
          <p:nvPr/>
        </p:nvSpPr>
        <p:spPr>
          <a:xfrm>
            <a:off x="9116568" y="4919472"/>
            <a:ext cx="0" cy="182880"/>
          </a:xfrm>
          <a:prstGeom prst="line">
            <a:avLst/>
          </a:prstGeom>
          <a:noFill/>
          <a:ln w="25400">
            <a:solidFill>
              <a:schemeClr val="accent4"/>
            </a:solidFill>
            <a:prstDash val="solid"/>
            <a:tailEnd type="triangle"/>
          </a:ln>
        </p:spPr>
      </p:sp>
      <p:sp>
        <p:nvSpPr>
          <p:cNvPr id="23" name="Stage Done / Rescheduled"/>
          <p:cNvSpPr/>
          <p:nvPr/>
        </p:nvSpPr>
        <p:spPr>
          <a:xfrm>
            <a:off x="6583680" y="5102352"/>
            <a:ext cx="5056632" cy="749808"/>
          </a:xfrm>
          <a:prstGeom prst="roundRect">
            <a:avLst>
              <a:gd name="adj" fmla="val 9756"/>
            </a:avLst>
          </a:prstGeom>
          <a:solidFill>
            <a:schemeClr val="accent1"/>
          </a:solidFill>
          <a:ln/>
        </p:spPr>
      </p:sp>
      <p:sp>
        <p:nvSpPr>
          <p:cNvPr id="24" name="Text 22"/>
          <p:cNvSpPr txBox="1"/>
          <p:nvPr/>
        </p:nvSpPr>
        <p:spPr>
          <a:xfrm>
            <a:off x="6812280" y="5102352"/>
            <a:ext cx="2103120" cy="749808"/>
          </a:xfrm>
          <a:prstGeom prst="rect">
            <a:avLst/>
          </a:prstGeom>
          <a:noFill/>
          <a:ln/>
        </p:spPr>
        <p:txBody>
          <a:bodyPr wrap="square" lIns="0" tIns="0" rIns="0" bIns="0" rtlCol="0" anchor="ctr"/>
          <a:lstStyle/>
          <a:p>
            <a:pPr indent="0" marL="0">
              <a:buNone/>
            </a:pPr>
            <a:r>
              <a:rPr lang="en-US" sz="1600" b="1" dirty="0">
                <a:solidFill>
                  <a:schemeClr val="bg1"/>
                </a:solidFill>
              </a:rPr>
              <a:t>Done / Rescheduled</a:t>
            </a:r>
            <a:endParaRPr lang="en-US" sz="1600" dirty="0"/>
          </a:p>
        </p:txBody>
      </p:sp>
      <p:sp>
        <p:nvSpPr>
          <p:cNvPr id="25" name="Text 23"/>
          <p:cNvSpPr txBox="1"/>
          <p:nvPr/>
        </p:nvSpPr>
        <p:spPr>
          <a:xfrm>
            <a:off x="8869680" y="5102352"/>
            <a:ext cx="2651760" cy="749808"/>
          </a:xfrm>
          <a:prstGeom prst="rect">
            <a:avLst/>
          </a:prstGeom>
          <a:noFill/>
          <a:ln/>
        </p:spPr>
        <p:txBody>
          <a:bodyPr wrap="square" lIns="0" tIns="0" rIns="0" bIns="0" rtlCol="0" anchor="ctr"/>
          <a:lstStyle/>
          <a:p>
            <a:pPr indent="0" marL="0">
              <a:buNone/>
            </a:pPr>
            <a:r>
              <a:rPr lang="en-US" sz="1300" dirty="0">
                <a:solidFill>
                  <a:schemeClr val="bg1"/>
                </a:solidFill>
              </a:rPr>
              <a:t>once: done; repeat: next run_at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txBox="1"/>
          <p:nvPr>
            <p:ph idx="104" type="title" hasCustomPrompt="1"/>
          </p:nvPr>
        </p:nvSpPr>
        <p:spPr>
          <a:xfrm>
            <a:off x="548640" y="365760"/>
            <a:ext cx="9326880" cy="731520"/>
          </a:xfrm>
          <a:prstGeom prst="rect">
            <a:avLst/>
          </a:prstGeom>
          <a:noFill/>
          <a:ln/>
        </p:spPr>
        <p:txBody>
          <a:bodyPr wrap="square" lIns="0" tIns="0" rIns="0" bIns="0" rtlCol="0" anchor="ctr"/>
          <a:lstStyle/>
          <a:p>
            <a:pPr algn="l" indent="0" marL="0">
              <a:buNone/>
            </a:pPr>
            <a:r>
              <a:rPr lang="en-US" sz="3400" b="1" dirty="0">
                <a:solidFill>
                  <a:schemeClr val="tx2"/>
                </a:solidFill>
              </a:rPr>
              <a:t>Automation and Failure Handling</a:t>
            </a:r>
            <a:endParaRPr lang="en-US" sz="3400" dirty="0"/>
          </a:p>
        </p:txBody>
      </p:sp>
      <p:sp>
        <p:nvSpPr>
          <p:cNvPr id="3" name="Implemented card"/>
          <p:cNvSpPr/>
          <p:nvPr/>
        </p:nvSpPr>
        <p:spPr>
          <a:xfrm>
            <a:off x="548640" y="1371600"/>
            <a:ext cx="5486400" cy="4663440"/>
          </a:xfrm>
          <a:prstGeom prst="roundRect">
            <a:avLst>
              <a:gd name="adj" fmla="val 1961"/>
            </a:avLst>
          </a:prstGeom>
          <a:solidFill>
            <a:schemeClr val="bg2"/>
          </a:solidFill>
          <a:ln/>
        </p:spPr>
      </p:sp>
      <p:sp>
        <p:nvSpPr>
          <p:cNvPr id="4" name="Implemented circle"/>
          <p:cNvSpPr/>
          <p:nvPr/>
        </p:nvSpPr>
        <p:spPr>
          <a:xfrm>
            <a:off x="777240" y="1554480"/>
            <a:ext cx="502920" cy="502920"/>
          </a:xfrm>
          <a:prstGeom prst="ellipse">
            <a:avLst/>
          </a:prstGeom>
          <a:solidFill>
            <a:schemeClr val="accent1"/>
          </a:solidFill>
          <a:ln/>
        </p:spPr>
      </p:sp>
      <p:pic>
        <p:nvPicPr>
          <p:cNvPr id="5" name="Implemented image" descr="preencoded.png">    </p:cNvPr>
          <p:cNvPicPr>
            <a:picLocks noChangeAspect="1"/>
          </p:cNvPicPr>
          <p:nvPr/>
        </p:nvPicPr>
        <p:blipFill>
          <a:blip r:embed="rId1"/>
          <a:stretch>
            <a:fillRect/>
          </a:stretch>
        </p:blipFill>
        <p:spPr>
          <a:xfrm>
            <a:off x="907999" y="1685239"/>
            <a:ext cx="241402" cy="241402"/>
          </a:xfrm>
          <a:prstGeom prst="rect">
            <a:avLst/>
          </a:prstGeom>
        </p:spPr>
      </p:pic>
      <p:sp>
        <p:nvSpPr>
          <p:cNvPr id="6" name="Text 3"/>
          <p:cNvSpPr txBox="1"/>
          <p:nvPr/>
        </p:nvSpPr>
        <p:spPr>
          <a:xfrm>
            <a:off x="1417320" y="1554480"/>
            <a:ext cx="4389120" cy="502920"/>
          </a:xfrm>
          <a:prstGeom prst="rect">
            <a:avLst/>
          </a:prstGeom>
          <a:noFill/>
          <a:ln/>
        </p:spPr>
        <p:txBody>
          <a:bodyPr wrap="square" lIns="0" tIns="0" rIns="0" bIns="0" rtlCol="0" anchor="ctr"/>
          <a:lstStyle/>
          <a:p>
            <a:pPr indent="0" marL="0">
              <a:buNone/>
            </a:pPr>
            <a:r>
              <a:rPr lang="en-US" sz="2000" b="1" dirty="0">
                <a:solidFill>
                  <a:schemeClr val="tx2"/>
                </a:solidFill>
              </a:rPr>
              <a:t>Implemented in the code</a:t>
            </a:r>
            <a:endParaRPr lang="en-US" sz="2000" dirty="0"/>
          </a:p>
        </p:txBody>
      </p:sp>
      <p:sp>
        <p:nvSpPr>
          <p:cNvPr id="7" name="Text 4"/>
          <p:cNvSpPr txBox="1"/>
          <p:nvPr/>
        </p:nvSpPr>
        <p:spPr>
          <a:xfrm>
            <a:off x="822960" y="2240280"/>
            <a:ext cx="4937760" cy="36576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rPr>
              <a:t>Delayed jobs: +N seconds, minutes, hours</a:t>
            </a:r>
            <a:endParaRPr lang="en-US" sz="1500" dirty="0"/>
          </a:p>
          <a:p>
            <a:pPr marL="342900" indent="-342900">
              <a:spcAft>
                <a:spcPts val="700"/>
              </a:spcAft>
              <a:buSzPct val="100000"/>
              <a:buChar char="•"/>
            </a:pPr>
            <a:r>
              <a:rPr lang="en-US" sz="1500" dirty="0">
                <a:solidFill>
                  <a:schemeClr val="tx1"/>
                </a:solidFill>
              </a:rPr>
              <a:t>Clock-time jobs; past times roll to tomorrow</a:t>
            </a:r>
            <a:endParaRPr lang="en-US" sz="1500" dirty="0"/>
          </a:p>
          <a:p>
            <a:pPr marL="342900" indent="-342900">
              <a:spcAft>
                <a:spcPts val="700"/>
              </a:spcAft>
              <a:buSzPct val="100000"/>
              <a:buChar char="•"/>
            </a:pPr>
            <a:r>
              <a:rPr lang="en-US" sz="1500" dirty="0">
                <a:solidFill>
                  <a:schemeClr val="tx1"/>
                </a:solidFill>
              </a:rPr>
              <a:t>Recurring jobs with --every interval</a:t>
            </a:r>
            <a:endParaRPr lang="en-US" sz="1500" dirty="0"/>
          </a:p>
          <a:p>
            <a:pPr marL="342900" indent="-342900">
              <a:spcAft>
                <a:spcPts val="700"/>
              </a:spcAft>
              <a:buSzPct val="100000"/>
              <a:buChar char="•"/>
            </a:pPr>
            <a:r>
              <a:rPr lang="en-US" sz="1500" dirty="0">
                <a:solidFill>
                  <a:schemeClr val="tx1"/>
                </a:solidFill>
              </a:rPr>
              <a:t>Exit status or signal logged per child</a:t>
            </a:r>
            <a:endParaRPr lang="en-US" sz="1500" dirty="0"/>
          </a:p>
          <a:p>
            <a:pPr marL="342900" indent="-342900">
              <a:spcAft>
                <a:spcPts val="700"/>
              </a:spcAft>
              <a:buSzPct val="100000"/>
              <a:buChar char="•"/>
            </a:pPr>
            <a:r>
              <a:rPr lang="en-US" sz="1500" dirty="0">
                <a:solidFill>
                  <a:schemeClr val="tx1"/>
                </a:solidFill>
              </a:rPr>
              <a:t>Failed commands (e.g. not found) log status 127</a:t>
            </a:r>
            <a:endParaRPr lang="en-US" sz="1500" dirty="0"/>
          </a:p>
          <a:p>
            <a:pPr marL="342900" indent="-342900">
              <a:spcAft>
                <a:spcPts val="700"/>
              </a:spcAft>
              <a:buSzPct val="100000"/>
              <a:buChar char="•"/>
            </a:pPr>
            <a:r>
              <a:rPr lang="en-US" sz="1500" dirty="0">
                <a:solidFill>
                  <a:schemeClr val="tx1"/>
                </a:solidFill>
              </a:rPr>
              <a:t>Child output captured in the log file</a:t>
            </a:r>
            <a:endParaRPr lang="en-US" sz="1500" dirty="0"/>
          </a:p>
          <a:p>
            <a:pPr marL="342900" indent="-342900">
              <a:spcAft>
                <a:spcPts val="700"/>
              </a:spcAft>
              <a:buSzPct val="100000"/>
              <a:buChar char="•"/>
            </a:pPr>
            <a:r>
              <a:rPr lang="en-US" sz="1500" dirty="0">
                <a:solidFill>
                  <a:schemeClr val="tx1"/>
                </a:solidFill>
              </a:rPr>
              <a:t>Graceful stop on SIGTERM; jobs persist</a:t>
            </a:r>
            <a:endParaRPr lang="en-US" sz="1500" dirty="0"/>
          </a:p>
        </p:txBody>
      </p:sp>
      <p:sp>
        <p:nvSpPr>
          <p:cNvPr id="8" name="Not implemented card"/>
          <p:cNvSpPr/>
          <p:nvPr/>
        </p:nvSpPr>
        <p:spPr>
          <a:xfrm>
            <a:off x="6153912" y="1371600"/>
            <a:ext cx="5486400" cy="4663440"/>
          </a:xfrm>
          <a:prstGeom prst="roundRect">
            <a:avLst>
              <a:gd name="adj" fmla="val 1961"/>
            </a:avLst>
          </a:prstGeom>
          <a:solidFill>
            <a:schemeClr val="bg2"/>
          </a:solidFill>
          <a:ln/>
        </p:spPr>
      </p:sp>
      <p:sp>
        <p:nvSpPr>
          <p:cNvPr id="9" name="Not implemented circle"/>
          <p:cNvSpPr/>
          <p:nvPr/>
        </p:nvSpPr>
        <p:spPr>
          <a:xfrm>
            <a:off x="6382512" y="1554480"/>
            <a:ext cx="502920" cy="502920"/>
          </a:xfrm>
          <a:prstGeom prst="ellipse">
            <a:avLst/>
          </a:prstGeom>
          <a:solidFill>
            <a:schemeClr val="accent6"/>
          </a:solidFill>
          <a:ln/>
        </p:spPr>
      </p:sp>
      <p:pic>
        <p:nvPicPr>
          <p:cNvPr id="10" name="Not implemented icon" descr="preencoded.png">    </p:cNvPr>
          <p:cNvPicPr>
            <a:picLocks noChangeAspect="1"/>
          </p:cNvPicPr>
          <p:nvPr/>
        </p:nvPicPr>
        <p:blipFill>
          <a:blip r:embed="rId2"/>
          <a:stretch>
            <a:fillRect/>
          </a:stretch>
        </p:blipFill>
        <p:spPr>
          <a:xfrm>
            <a:off x="6510528" y="1682496"/>
            <a:ext cx="246888" cy="246888"/>
          </a:xfrm>
          <a:prstGeom prst="rect">
            <a:avLst/>
          </a:prstGeom>
        </p:spPr>
      </p:pic>
      <p:sp>
        <p:nvSpPr>
          <p:cNvPr id="11" name="Text 7"/>
          <p:cNvSpPr txBox="1"/>
          <p:nvPr/>
        </p:nvSpPr>
        <p:spPr>
          <a:xfrm>
            <a:off x="7022592" y="1554480"/>
            <a:ext cx="4389120" cy="502920"/>
          </a:xfrm>
          <a:prstGeom prst="rect">
            <a:avLst/>
          </a:prstGeom>
          <a:noFill/>
          <a:ln/>
        </p:spPr>
        <p:txBody>
          <a:bodyPr wrap="square" lIns="0" tIns="0" rIns="0" bIns="0" rtlCol="0" anchor="ctr"/>
          <a:lstStyle/>
          <a:p>
            <a:pPr indent="0" marL="0">
              <a:buNone/>
            </a:pPr>
            <a:r>
              <a:rPr lang="en-US" sz="2000" b="1" dirty="0">
                <a:solidFill>
                  <a:schemeClr val="tx2"/>
                </a:solidFill>
              </a:rPr>
              <a:t>Not in the current code</a:t>
            </a:r>
            <a:endParaRPr lang="en-US" sz="2000" dirty="0"/>
          </a:p>
        </p:txBody>
      </p:sp>
      <p:sp>
        <p:nvSpPr>
          <p:cNvPr id="12" name="Text 8"/>
          <p:cNvSpPr txBox="1"/>
          <p:nvPr/>
        </p:nvSpPr>
        <p:spPr>
          <a:xfrm>
            <a:off x="6428232" y="2240280"/>
            <a:ext cx="4937760" cy="23774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rPr>
              <a:t>Job dependencies (run B after A succeeds)</a:t>
            </a:r>
            <a:endParaRPr lang="en-US" sz="1500" dirty="0"/>
          </a:p>
          <a:p>
            <a:pPr marL="342900" indent="-342900">
              <a:spcAft>
                <a:spcPts val="700"/>
              </a:spcAft>
              <a:buSzPct val="100000"/>
              <a:buChar char="•"/>
            </a:pPr>
            <a:r>
              <a:rPr lang="en-US" sz="1500" dirty="0">
                <a:solidFill>
                  <a:schemeClr val="tx1"/>
                </a:solidFill>
              </a:rPr>
              <a:t>Automatic retries after failure</a:t>
            </a:r>
            <a:endParaRPr lang="en-US" sz="1500" dirty="0"/>
          </a:p>
          <a:p>
            <a:pPr marL="342900" indent="-342900">
              <a:spcAft>
                <a:spcPts val="700"/>
              </a:spcAft>
              <a:buSzPct val="100000"/>
              <a:buChar char="•"/>
            </a:pPr>
            <a:r>
              <a:rPr lang="en-US" sz="1500" dirty="0">
                <a:solidFill>
                  <a:schemeClr val="tx1"/>
                </a:solidFill>
              </a:rPr>
              <a:t>Timeouts for long-running jobs</a:t>
            </a:r>
            <a:endParaRPr lang="en-US" sz="1500" dirty="0"/>
          </a:p>
          <a:p>
            <a:pPr marL="342900" indent="-342900">
              <a:spcAft>
                <a:spcPts val="700"/>
              </a:spcAft>
              <a:buSzPct val="100000"/>
              <a:buChar char="•"/>
            </a:pPr>
            <a:r>
              <a:rPr lang="en-US" sz="1500" dirty="0">
                <a:solidFill>
                  <a:schemeClr val="tx1"/>
                </a:solidFill>
              </a:rPr>
              <a:t>A failed one-shot job is still marked done</a:t>
            </a:r>
            <a:endParaRPr lang="en-US" sz="1500" dirty="0"/>
          </a:p>
        </p:txBody>
      </p:sp>
      <p:sp>
        <p:nvSpPr>
          <p:cNvPr id="13" name="Text 9"/>
          <p:cNvSpPr txBox="1"/>
          <p:nvPr/>
        </p:nvSpPr>
        <p:spPr>
          <a:xfrm>
            <a:off x="6428232" y="4937760"/>
            <a:ext cx="4937760" cy="731520"/>
          </a:xfrm>
          <a:prstGeom prst="rect">
            <a:avLst/>
          </a:prstGeom>
          <a:noFill/>
          <a:ln/>
        </p:spPr>
        <p:txBody>
          <a:bodyPr wrap="square" lIns="0" tIns="0" rIns="0" bIns="0" rtlCol="0" anchor="t"/>
          <a:lstStyle/>
          <a:p>
            <a:pPr indent="0" marL="0">
              <a:buNone/>
            </a:pPr>
            <a:r>
              <a:rPr lang="en-US" sz="1400" i="1" dirty="0">
                <a:solidFill>
                  <a:schemeClr val="accent4"/>
                </a:solidFill>
              </a:rPr>
              <a:t>These are proposed as future work on the next slides.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txBox="1"/>
          <p:nvPr>
            <p:ph idx="104" type="title" hasCustomPrompt="1"/>
          </p:nvPr>
        </p:nvSpPr>
        <p:spPr>
          <a:xfrm>
            <a:off x="548640" y="365760"/>
            <a:ext cx="9326880" cy="731520"/>
          </a:xfrm>
          <a:prstGeom prst="rect">
            <a:avLst/>
          </a:prstGeom>
          <a:noFill/>
          <a:ln/>
        </p:spPr>
        <p:txBody>
          <a:bodyPr wrap="square" lIns="0" tIns="0" rIns="0" bIns="0" rtlCol="0" anchor="ctr"/>
          <a:lstStyle/>
          <a:p>
            <a:pPr algn="l" indent="0" marL="0">
              <a:buNone/>
            </a:pPr>
            <a:r>
              <a:rPr lang="en-US" sz="3400" b="1" dirty="0">
                <a:solidFill>
                  <a:schemeClr val="tx2"/>
                </a:solidFill>
              </a:rPr>
              <a:t>Terminal Output from the Running System</a:t>
            </a:r>
            <a:endParaRPr lang="en-US" sz="3400" dirty="0"/>
          </a:p>
        </p:txBody>
      </p:sp>
      <p:sp>
        <p:nvSpPr>
          <p:cNvPr id="3" name="Terminal: Submitting and listing jobs (real output)"/>
          <p:cNvSpPr/>
          <p:nvPr/>
        </p:nvSpPr>
        <p:spPr>
          <a:xfrm>
            <a:off x="548640" y="1280160"/>
            <a:ext cx="11091672" cy="2651760"/>
          </a:xfrm>
          <a:prstGeom prst="roundRect">
            <a:avLst>
              <a:gd name="adj" fmla="val 2759"/>
            </a:avLst>
          </a:prstGeom>
          <a:solidFill>
            <a:schemeClr val="tx1"/>
          </a:solidFill>
          <a:ln/>
        </p:spPr>
      </p:sp>
      <p:sp>
        <p:nvSpPr>
          <p:cNvPr id="4" name="Text 2"/>
          <p:cNvSpPr txBox="1"/>
          <p:nvPr/>
        </p:nvSpPr>
        <p:spPr>
          <a:xfrm>
            <a:off x="777240" y="1371600"/>
            <a:ext cx="10634472" cy="228600"/>
          </a:xfrm>
          <a:prstGeom prst="rect">
            <a:avLst/>
          </a:prstGeom>
          <a:noFill/>
          <a:ln/>
        </p:spPr>
        <p:txBody>
          <a:bodyPr wrap="square" lIns="0" tIns="0" rIns="0" bIns="0" rtlCol="0" anchor="t"/>
          <a:lstStyle/>
          <a:p>
            <a:pPr indent="0" marL="0">
              <a:buNone/>
            </a:pPr>
            <a:r>
              <a:rPr lang="en-US" sz="1000" b="1" dirty="0">
                <a:solidFill>
                  <a:schemeClr val="accent2"/>
                </a:solidFill>
              </a:rPr>
              <a:t>Submitting and listing jobs (real output)</a:t>
            </a:r>
            <a:endParaRPr lang="en-US" sz="1000" dirty="0"/>
          </a:p>
        </p:txBody>
      </p:sp>
      <p:sp>
        <p:nvSpPr>
          <p:cNvPr id="5" name="Text 3"/>
          <p:cNvSpPr txBox="1"/>
          <p:nvPr/>
        </p:nvSpPr>
        <p:spPr>
          <a:xfrm>
            <a:off x="777240" y="1645920"/>
            <a:ext cx="10634472" cy="2194560"/>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 ./jobsched add +2s "echo hello from job"</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Job #1 scheduled for 2026-10-17 05:39:24</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 ./jobsched add +1s --every 2s "date"</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Job #2 scheduled for 2026-10-17 05:39:23 (repeating)</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 ./jobsched add 25:99 "echo bad"</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Invalid time: 25:99</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 ./jobsched list   # after 6 s</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ID   NEXT RUN             REPEAT     STATE    COMMAND</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1    2026-10-17 05:39:24  once       done     echo hello from job</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2    2026-10-17 05:39:29  2s         pending  date</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3    2026-10-17 05:39:23  once       done     nonexistent_cmd</a:t>
            </a:r>
            <a:endParaRPr lang="en-US" sz="1200" dirty="0"/>
          </a:p>
        </p:txBody>
      </p:sp>
      <p:sp>
        <p:nvSpPr>
          <p:cNvPr id="6" name="Terminal: Execution log (excerpt, real output)"/>
          <p:cNvSpPr/>
          <p:nvPr/>
        </p:nvSpPr>
        <p:spPr>
          <a:xfrm>
            <a:off x="548640" y="4069080"/>
            <a:ext cx="11091672" cy="2103120"/>
          </a:xfrm>
          <a:prstGeom prst="roundRect">
            <a:avLst>
              <a:gd name="adj" fmla="val 3478"/>
            </a:avLst>
          </a:prstGeom>
          <a:solidFill>
            <a:schemeClr val="tx1"/>
          </a:solidFill>
          <a:ln/>
        </p:spPr>
      </p:sp>
      <p:sp>
        <p:nvSpPr>
          <p:cNvPr id="7" name="Text 5"/>
          <p:cNvSpPr txBox="1"/>
          <p:nvPr/>
        </p:nvSpPr>
        <p:spPr>
          <a:xfrm>
            <a:off x="777240" y="4160520"/>
            <a:ext cx="10634472" cy="228600"/>
          </a:xfrm>
          <a:prstGeom prst="rect">
            <a:avLst/>
          </a:prstGeom>
          <a:noFill/>
          <a:ln/>
        </p:spPr>
        <p:txBody>
          <a:bodyPr wrap="square" lIns="0" tIns="0" rIns="0" bIns="0" rtlCol="0" anchor="t"/>
          <a:lstStyle/>
          <a:p>
            <a:pPr indent="0" marL="0">
              <a:buNone/>
            </a:pPr>
            <a:r>
              <a:rPr lang="en-US" sz="1000" b="1" dirty="0">
                <a:solidFill>
                  <a:schemeClr val="accent2"/>
                </a:solidFill>
              </a:rPr>
              <a:t>Execution log (excerpt, real output)</a:t>
            </a:r>
            <a:endParaRPr lang="en-US" sz="1000" dirty="0"/>
          </a:p>
        </p:txBody>
      </p:sp>
      <p:sp>
        <p:nvSpPr>
          <p:cNvPr id="8" name="Text 6"/>
          <p:cNvSpPr txBox="1"/>
          <p:nvPr/>
        </p:nvSpPr>
        <p:spPr>
          <a:xfrm>
            <a:off x="777240" y="4434840"/>
            <a:ext cx="10634472" cy="1645920"/>
          </a:xfrm>
          <a:prstGeom prst="rect">
            <a:avLst/>
          </a:prstGeom>
          <a:noFill/>
          <a:ln/>
        </p:spPr>
        <p:txBody>
          <a:bodyPr wrap="square" lIns="0" tIns="0" rIns="0" bIns="0" rtlCol="0" anchor="t"/>
          <a:lstStyle/>
          <a:p>
            <a:pPr indent="0" marL="0">
              <a:buNone/>
            </a:pPr>
            <a:r>
              <a:rPr lang="en-US" sz="1200" dirty="0">
                <a:solidFill>
                  <a:schemeClr val="bg2"/>
                </a:solidFill>
                <a:latin typeface="Courier New" pitchFamily="34" charset="0"/>
                <a:ea typeface="Courier New" pitchFamily="34" charset="-122"/>
                <a:cs typeface="Courier New" pitchFamily="34" charset="-120"/>
              </a:rPr>
              <a:t>[2026-10-17 05:39:23] job #3 started (pid 114): nonexistent_cmd</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sh: 1: nonexistent_cmd: not found</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[2026-10-17 05:39:23] pid 114 finished, exit status 127</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Sat Oct 17 05:39:23 UTC 2026</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[2026-10-17 05:39:24] job #1 started (pid 116): echo hello from job</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hello from job</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[2026-10-17 05:39:24] pid 113 finished, exit status 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txBox="1"/>
          <p:nvPr>
            <p:ph idx="104" type="title" hasCustomPrompt="1"/>
          </p:nvPr>
        </p:nvSpPr>
        <p:spPr>
          <a:xfrm>
            <a:off x="548640" y="365760"/>
            <a:ext cx="9326880" cy="731520"/>
          </a:xfrm>
          <a:prstGeom prst="rect">
            <a:avLst/>
          </a:prstGeom>
          <a:noFill/>
          <a:ln/>
        </p:spPr>
        <p:txBody>
          <a:bodyPr wrap="square" lIns="0" tIns="0" rIns="0" bIns="0" rtlCol="0" anchor="ctr"/>
          <a:lstStyle/>
          <a:p>
            <a:pPr algn="l" indent="0" marL="0">
              <a:buNone/>
            </a:pPr>
            <a:r>
              <a:rPr lang="en-US" sz="3400" b="1" dirty="0">
                <a:solidFill>
                  <a:schemeClr val="tx2"/>
                </a:solidFill>
              </a:rPr>
              <a:t>Testing and Results</a:t>
            </a:r>
            <a:endParaRPr lang="en-US" sz="3400" dirty="0"/>
          </a:p>
        </p:txBody>
      </p:sp>
      <p:graphicFrame>
        <p:nvGraphicFramePr>
          <p:cNvPr id="13" name="Test result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548640"/>
                <a:gridCol w="3291840"/>
                <a:gridCol w="5971032"/>
                <a:gridCol w="1280160"/>
              </a:tblGrid>
              <a:tr h="457200">
                <a:tc>
                  <a:txBody>
                    <a:bodyPr/>
                    <a:lstStyle/>
                    <a:p>
                      <a:pPr indent="0" marL="0">
                        <a:buNone/>
                      </a:pPr>
                      <a:r>
                        <a:rPr lang="en-US" sz="1500" b="1" dirty="0">
                          <a:solidFill>
                            <a:schemeClr val="bg1"/>
                          </a:solidFill>
                        </a:rPr>
                        <a:t>#</a:t>
                      </a:r>
                      <a:endParaRPr lang="en-US" sz="15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Test</a:t>
                      </a:r>
                      <a:endParaRPr lang="en-US" sz="15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Observed in the test session</a:t>
                      </a:r>
                      <a:endParaRPr lang="en-US" sz="15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Result</a:t>
                      </a:r>
                      <a:endParaRPr lang="en-US" sz="15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r>
              <a:tr h="457200">
                <a:tc>
                  <a:txBody>
                    <a:bodyPr/>
                    <a:lstStyle/>
                    <a:p>
                      <a:pPr algn="ctr" indent="0" marL="0">
                        <a:buNone/>
                      </a:pPr>
                      <a:r>
                        <a:rPr lang="en-US" sz="1300" dirty="0">
                          <a:solidFill>
                            <a:schemeClr val="tx1"/>
                          </a:solidFill>
                        </a:rPr>
                        <a:t>1</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Compile with -Wall -Wextra</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0 warnings, 0 errors</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5"/>
                          </a:solidFill>
                        </a:rPr>
                        <a:t>Pass</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457200">
                <a:tc>
                  <a:txBody>
                    <a:bodyPr/>
                    <a:lstStyle/>
                    <a:p>
                      <a:pPr algn="ctr" indent="0" marL="0">
                        <a:buNone/>
                      </a:pPr>
                      <a:r>
                        <a:rPr lang="en-US" sz="1300" dirty="0">
                          <a:solidFill>
                            <a:schemeClr val="tx1"/>
                          </a:solidFill>
                        </a:rPr>
                        <a:t>2</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Start twice</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Second start refused: already running</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5"/>
                          </a:solidFill>
                        </a:rPr>
                        <a:t>Pass</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457200">
                <a:tc>
                  <a:txBody>
                    <a:bodyPr/>
                    <a:lstStyle/>
                    <a:p>
                      <a:pPr algn="ctr" indent="0" marL="0">
                        <a:buNone/>
                      </a:pPr>
                      <a:r>
                        <a:rPr lang="en-US" sz="1300" dirty="0">
                          <a:solidFill>
                            <a:schemeClr val="tx1"/>
                          </a:solidFill>
                        </a:rPr>
                        <a:t>3</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One-shot job (+2s)</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Ran once at 05:39:24; state = done</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5"/>
                          </a:solidFill>
                        </a:rPr>
                        <a:t>Pass</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457200">
                <a:tc>
                  <a:txBody>
                    <a:bodyPr/>
                    <a:lstStyle/>
                    <a:p>
                      <a:pPr algn="ctr" indent="0" marL="0">
                        <a:buNone/>
                      </a:pPr>
                      <a:r>
                        <a:rPr lang="en-US" sz="1300" dirty="0">
                          <a:solidFill>
                            <a:schemeClr val="tx1"/>
                          </a:solidFill>
                        </a:rPr>
                        <a:t>4</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Recurring job (every 2 s)</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Ran at 05:39:23, :25, :27</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5"/>
                          </a:solidFill>
                        </a:rPr>
                        <a:t>Pass</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457200">
                <a:tc>
                  <a:txBody>
                    <a:bodyPr/>
                    <a:lstStyle/>
                    <a:p>
                      <a:pPr algn="ctr" indent="0" marL="0">
                        <a:buNone/>
                      </a:pPr>
                      <a:r>
                        <a:rPr lang="en-US" sz="1300" dirty="0">
                          <a:solidFill>
                            <a:schemeClr val="tx1"/>
                          </a:solidFill>
                        </a:rPr>
                        <a:t>5</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Invalid time (25:99)</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Rejected: Invalid time</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5"/>
                          </a:solidFill>
                        </a:rPr>
                        <a:t>Pass</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457200">
                <a:tc>
                  <a:txBody>
                    <a:bodyPr/>
                    <a:lstStyle/>
                    <a:p>
                      <a:pPr algn="ctr" indent="0" marL="0">
                        <a:buNone/>
                      </a:pPr>
                      <a:r>
                        <a:rPr lang="en-US" sz="1300" dirty="0">
                          <a:solidFill>
                            <a:schemeClr val="tx1"/>
                          </a:solidFill>
                        </a:rPr>
                        <a:t>6</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Failing command</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Exit status 127 recorded in the log</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5"/>
                          </a:solidFill>
                        </a:rPr>
                        <a:t>Pass</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457200">
                <a:tc>
                  <a:txBody>
                    <a:bodyPr/>
                    <a:lstStyle/>
                    <a:p>
                      <a:pPr algn="ctr" indent="0" marL="0">
                        <a:buNone/>
                      </a:pPr>
                      <a:r>
                        <a:rPr lang="en-US" sz="1300" dirty="0">
                          <a:solidFill>
                            <a:schemeClr val="tx1"/>
                          </a:solidFill>
                        </a:rPr>
                        <a:t>7</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Remove job #2 and #99</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#2 removed; #99 reported not found</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5"/>
                          </a:solidFill>
                        </a:rPr>
                        <a:t>Pass</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457200">
                <a:tc>
                  <a:txBody>
                    <a:bodyPr/>
                    <a:lstStyle/>
                    <a:p>
                      <a:pPr algn="ctr" indent="0" marL="0">
                        <a:buNone/>
                      </a:pPr>
                      <a:r>
                        <a:rPr lang="en-US" sz="1300" dirty="0">
                          <a:solidFill>
                            <a:schemeClr val="tx1"/>
                          </a:solidFill>
                        </a:rPr>
                        <a:t>8</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Stop, then restart</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Stopped cleanly; jobs still listed after restart</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5"/>
                          </a:solidFill>
                        </a:rPr>
                        <a:t>Pass</a:t>
                      </a:r>
                      <a:endParaRPr lang="en-US" sz="1300" dirty="0"/>
                    </a:p>
                  </a:txBody>
                  <a:tcPr marL="109728" marR="109728" marT="36576" marB="36576"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623560"/>
            <a:ext cx="11091672" cy="640080"/>
          </a:xfrm>
          <a:prstGeom prst="rect">
            <a:avLst/>
          </a:prstGeom>
          <a:noFill/>
          <a:ln/>
        </p:spPr>
        <p:txBody>
          <a:bodyPr wrap="square" lIns="0" tIns="0" rIns="0" bIns="0" rtlCol="0" anchor="t"/>
          <a:lstStyle/>
          <a:p>
            <a:pPr indent="0" marL="0">
              <a:buNone/>
            </a:pPr>
            <a:r>
              <a:rPr lang="en-US" sz="1400" i="1" dirty="0">
                <a:solidFill>
                  <a:schemeClr val="accent4"/>
                </a:solidFill>
              </a:rPr>
              <a:t>Manual test session on Ubuntu 24.04 using the script that produced the terminal output. No performance benchmarks were measured, and no load testing was done.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txBox="1"/>
          <p:nvPr>
            <p:ph idx="104" type="title" hasCustomPrompt="1"/>
          </p:nvPr>
        </p:nvSpPr>
        <p:spPr>
          <a:xfrm>
            <a:off x="548640" y="365760"/>
            <a:ext cx="9326880" cy="731520"/>
          </a:xfrm>
          <a:prstGeom prst="rect">
            <a:avLst/>
          </a:prstGeom>
          <a:noFill/>
          <a:ln/>
        </p:spPr>
        <p:txBody>
          <a:bodyPr wrap="square" lIns="0" tIns="0" rIns="0" bIns="0" rtlCol="0" anchor="ctr"/>
          <a:lstStyle/>
          <a:p>
            <a:pPr algn="l" indent="0" marL="0">
              <a:buNone/>
            </a:pPr>
            <a:r>
              <a:rPr lang="en-US" sz="3400" b="1" dirty="0">
                <a:solidFill>
                  <a:schemeClr val="tx2"/>
                </a:solidFill>
              </a:rPr>
              <a:t>Limitations and Future Enhancements</a:t>
            </a:r>
            <a:endParaRPr lang="en-US" sz="3400" dirty="0"/>
          </a:p>
        </p:txBody>
      </p:sp>
      <p:sp>
        <p:nvSpPr>
          <p:cNvPr id="3" name="Limitations card"/>
          <p:cNvSpPr/>
          <p:nvPr/>
        </p:nvSpPr>
        <p:spPr>
          <a:xfrm>
            <a:off x="548640" y="1371600"/>
            <a:ext cx="5486400" cy="4663440"/>
          </a:xfrm>
          <a:prstGeom prst="roundRect">
            <a:avLst>
              <a:gd name="adj" fmla="val 1961"/>
            </a:avLst>
          </a:prstGeom>
          <a:solidFill>
            <a:schemeClr val="bg2"/>
          </a:solidFill>
          <a:ln/>
        </p:spPr>
      </p:sp>
      <p:sp>
        <p:nvSpPr>
          <p:cNvPr id="4" name="Text 2"/>
          <p:cNvSpPr txBox="1"/>
          <p:nvPr/>
        </p:nvSpPr>
        <p:spPr>
          <a:xfrm>
            <a:off x="822960" y="1554480"/>
            <a:ext cx="493776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Limitations (from the code)</a:t>
            </a:r>
            <a:endParaRPr lang="en-US" sz="2000" dirty="0"/>
          </a:p>
        </p:txBody>
      </p:sp>
      <p:sp>
        <p:nvSpPr>
          <p:cNvPr id="5" name="Text 3"/>
          <p:cNvSpPr txBox="1"/>
          <p:nvPr/>
        </p:nvSpPr>
        <p:spPr>
          <a:xfrm>
            <a:off x="822960" y="2103120"/>
            <a:ext cx="4937760" cy="365760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Checks once per second (about 1 s accuracy)</a:t>
            </a:r>
            <a:endParaRPr lang="en-US" sz="1800" dirty="0"/>
          </a:p>
          <a:p>
            <a:pPr marL="342900" indent="-342900">
              <a:spcAft>
                <a:spcPts val="1400"/>
              </a:spcAft>
              <a:buSzPct val="100000"/>
              <a:buChar char="•"/>
            </a:pPr>
            <a:r>
              <a:rPr lang="en-US" sz="1800" dirty="0">
                <a:solidFill>
                  <a:schemeClr val="tx1"/>
                </a:solidFill>
              </a:rPr>
              <a:t>Table holds at most 128 jobs</a:t>
            </a:r>
            <a:endParaRPr lang="en-US" sz="1800" dirty="0"/>
          </a:p>
          <a:p>
            <a:pPr marL="342900" indent="-342900">
              <a:spcAft>
                <a:spcPts val="1400"/>
              </a:spcAft>
              <a:buSzPct val="100000"/>
              <a:buChar char="•"/>
            </a:pPr>
            <a:r>
              <a:rPr lang="en-US" sz="1800" dirty="0">
                <a:solidFill>
                  <a:schemeClr val="tx1"/>
                </a:solidFill>
              </a:rPr>
              <a:t>No dependencies, retries, timeouts or priorities</a:t>
            </a:r>
            <a:endParaRPr lang="en-US" sz="1800" dirty="0"/>
          </a:p>
          <a:p>
            <a:pPr marL="342900" indent="-342900">
              <a:spcAft>
                <a:spcPts val="1400"/>
              </a:spcAft>
              <a:buSzPct val="100000"/>
              <a:buChar char="•"/>
            </a:pPr>
            <a:r>
              <a:rPr lang="en-US" sz="1800" dirty="0">
                <a:solidFill>
                  <a:schemeClr val="tx1"/>
                </a:solidFill>
              </a:rPr>
              <a:t>Fixed intervals only; no cron expressions</a:t>
            </a:r>
            <a:endParaRPr lang="en-US" sz="1800" dirty="0"/>
          </a:p>
          <a:p>
            <a:pPr marL="342900" indent="-342900">
              <a:spcAft>
                <a:spcPts val="1400"/>
              </a:spcAft>
              <a:buSzPct val="100000"/>
              <a:buChar char="•"/>
            </a:pPr>
            <a:r>
              <a:rPr lang="en-US" sz="1800" dirty="0">
                <a:solidFill>
                  <a:schemeClr val="tx1"/>
                </a:solidFill>
              </a:rPr>
              <a:t>Jobs run with the starting user's rights</a:t>
            </a:r>
            <a:endParaRPr lang="en-US" sz="1800" dirty="0"/>
          </a:p>
          <a:p>
            <a:pPr marL="342900" indent="-342900">
              <a:spcAft>
                <a:spcPts val="1400"/>
              </a:spcAft>
              <a:buSzPct val="100000"/>
              <a:buChar char="•"/>
            </a:pPr>
            <a:r>
              <a:rPr lang="en-US" sz="1800" dirty="0">
                <a:solidFill>
                  <a:schemeClr val="tx1"/>
                </a:solidFill>
              </a:rPr>
              <a:t>All job output shares one log file</a:t>
            </a:r>
            <a:endParaRPr lang="en-US" sz="1800" dirty="0"/>
          </a:p>
        </p:txBody>
      </p:sp>
      <p:sp>
        <p:nvSpPr>
          <p:cNvPr id="6" name="Future card"/>
          <p:cNvSpPr/>
          <p:nvPr/>
        </p:nvSpPr>
        <p:spPr>
          <a:xfrm>
            <a:off x="6153912" y="1371600"/>
            <a:ext cx="5486400" cy="4663440"/>
          </a:xfrm>
          <a:prstGeom prst="roundRect">
            <a:avLst>
              <a:gd name="adj" fmla="val 1961"/>
            </a:avLst>
          </a:prstGeom>
          <a:solidFill>
            <a:schemeClr val="bg2"/>
          </a:solidFill>
          <a:ln/>
        </p:spPr>
      </p:sp>
      <p:sp>
        <p:nvSpPr>
          <p:cNvPr id="7" name="Text 5"/>
          <p:cNvSpPr txBox="1"/>
          <p:nvPr/>
        </p:nvSpPr>
        <p:spPr>
          <a:xfrm>
            <a:off x="6428232" y="1554480"/>
            <a:ext cx="493776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Future enhancements (proposed)</a:t>
            </a:r>
            <a:endParaRPr lang="en-US" sz="2000" dirty="0"/>
          </a:p>
        </p:txBody>
      </p:sp>
      <p:sp>
        <p:nvSpPr>
          <p:cNvPr id="8" name="Text 6"/>
          <p:cNvSpPr txBox="1"/>
          <p:nvPr/>
        </p:nvSpPr>
        <p:spPr>
          <a:xfrm>
            <a:off x="6428232" y="2103120"/>
            <a:ext cx="4937760" cy="365760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Job dependencies and ordering</a:t>
            </a:r>
            <a:endParaRPr lang="en-US" sz="1800" dirty="0"/>
          </a:p>
          <a:p>
            <a:pPr marL="342900" indent="-342900">
              <a:spcAft>
                <a:spcPts val="1400"/>
              </a:spcAft>
              <a:buSzPct val="100000"/>
              <a:buChar char="•"/>
            </a:pPr>
            <a:r>
              <a:rPr lang="en-US" sz="1800" dirty="0">
                <a:solidFill>
                  <a:schemeClr val="tx1"/>
                </a:solidFill>
              </a:rPr>
              <a:t>Retry with a limit, plus timeouts</a:t>
            </a:r>
            <a:endParaRPr lang="en-US" sz="1800" dirty="0"/>
          </a:p>
          <a:p>
            <a:pPr marL="342900" indent="-342900">
              <a:spcAft>
                <a:spcPts val="1400"/>
              </a:spcAft>
              <a:buSzPct val="100000"/>
              <a:buChar char="•"/>
            </a:pPr>
            <a:r>
              <a:rPr lang="en-US" sz="1800" dirty="0">
                <a:solidFill>
                  <a:schemeClr val="tx1"/>
                </a:solidFill>
              </a:rPr>
              <a:t>Priority queue or round-robin policy</a:t>
            </a:r>
            <a:endParaRPr lang="en-US" sz="1800" dirty="0"/>
          </a:p>
          <a:p>
            <a:pPr marL="342900" indent="-342900">
              <a:spcAft>
                <a:spcPts val="1400"/>
              </a:spcAft>
              <a:buSzPct val="100000"/>
              <a:buChar char="•"/>
            </a:pPr>
            <a:r>
              <a:rPr lang="en-US" sz="1800" dirty="0">
                <a:solidFill>
                  <a:schemeClr val="tx1"/>
                </a:solidFill>
              </a:rPr>
              <a:t>Cron-style schedule expressions</a:t>
            </a:r>
            <a:endParaRPr lang="en-US" sz="1800" dirty="0"/>
          </a:p>
          <a:p>
            <a:pPr marL="342900" indent="-342900">
              <a:spcAft>
                <a:spcPts val="1400"/>
              </a:spcAft>
              <a:buSzPct val="100000"/>
              <a:buChar char="•"/>
            </a:pPr>
            <a:r>
              <a:rPr lang="en-US" sz="1800" dirty="0">
                <a:solidFill>
                  <a:schemeClr val="tx1"/>
                </a:solidFill>
              </a:rPr>
              <a:t>Sleep until the next due job, not poll</a:t>
            </a:r>
            <a:endParaRPr lang="en-US" sz="1800" dirty="0"/>
          </a:p>
          <a:p>
            <a:pPr marL="342900" indent="-342900">
              <a:spcAft>
                <a:spcPts val="1400"/>
              </a:spcAft>
              <a:buSzPct val="100000"/>
              <a:buChar char="•"/>
            </a:pPr>
            <a:r>
              <a:rPr lang="en-US" sz="1800" dirty="0">
                <a:solidFill>
                  <a:schemeClr val="tx1"/>
                </a:solidFill>
              </a:rPr>
              <a:t>Limit on concurrent jobs; per-job logs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txBox="1"/>
          <p:nvPr>
            <p:ph idx="105" type="title" hasCustomPrompt="1"/>
          </p:nvPr>
        </p:nvSpPr>
        <p:spPr>
          <a:xfrm>
            <a:off x="548640" y="365760"/>
            <a:ext cx="9326880" cy="731520"/>
          </a:xfrm>
          <a:prstGeom prst="rect">
            <a:avLst/>
          </a:prstGeom>
          <a:noFill/>
          <a:ln/>
        </p:spPr>
        <p:txBody>
          <a:bodyPr wrap="square" lIns="0" tIns="0" rIns="0" bIns="0" rtlCol="0" anchor="ctr"/>
          <a:lstStyle/>
          <a:p>
            <a:pPr algn="l" indent="0" marL="0">
              <a:buNone/>
            </a:pPr>
            <a:r>
              <a:rPr lang="en-US" sz="3400" b="1" dirty="0">
                <a:solidFill>
                  <a:schemeClr val="bg1"/>
                </a:solidFill>
              </a:rPr>
              <a:t>Conclusion</a:t>
            </a:r>
            <a:endParaRPr lang="en-US" sz="3400" dirty="0"/>
          </a:p>
        </p:txBody>
      </p:sp>
      <p:sp>
        <p:nvSpPr>
          <p:cNvPr id="3" name="Conclusion card 1"/>
          <p:cNvSpPr/>
          <p:nvPr/>
        </p:nvSpPr>
        <p:spPr>
          <a:xfrm>
            <a:off x="548640" y="1554480"/>
            <a:ext cx="3575304" cy="4023360"/>
          </a:xfrm>
          <a:prstGeom prst="roundRect">
            <a:avLst>
              <a:gd name="adj" fmla="val 2558"/>
            </a:avLst>
          </a:prstGeom>
          <a:solidFill>
            <a:schemeClr val="accent3"/>
          </a:solidFill>
          <a:ln/>
        </p:spPr>
      </p:sp>
      <p:sp>
        <p:nvSpPr>
          <p:cNvPr id="4" name="Conclusion 1 circle"/>
          <p:cNvSpPr/>
          <p:nvPr/>
        </p:nvSpPr>
        <p:spPr>
          <a:xfrm>
            <a:off x="822960" y="1828800"/>
            <a:ext cx="822960" cy="822960"/>
          </a:xfrm>
          <a:prstGeom prst="ellipse">
            <a:avLst/>
          </a:prstGeom>
          <a:solidFill>
            <a:schemeClr val="accent1"/>
          </a:solidFill>
          <a:ln/>
        </p:spPr>
      </p:sp>
      <p:pic>
        <p:nvPicPr>
          <p:cNvPr id="5" name="Conclusion 1 image" descr="preencoded.png">    </p:cNvPr>
          <p:cNvPicPr>
            <a:picLocks noChangeAspect="1"/>
          </p:cNvPicPr>
          <p:nvPr/>
        </p:nvPicPr>
        <p:blipFill>
          <a:blip r:embed="rId1"/>
          <a:stretch>
            <a:fillRect/>
          </a:stretch>
        </p:blipFill>
        <p:spPr>
          <a:xfrm>
            <a:off x="1036930" y="2042770"/>
            <a:ext cx="395021" cy="395021"/>
          </a:xfrm>
          <a:prstGeom prst="rect">
            <a:avLst/>
          </a:prstGeom>
        </p:spPr>
      </p:pic>
      <p:sp>
        <p:nvSpPr>
          <p:cNvPr id="6" name="Text 3"/>
          <p:cNvSpPr txBox="1"/>
          <p:nvPr/>
        </p:nvSpPr>
        <p:spPr>
          <a:xfrm>
            <a:off x="822960" y="2880360"/>
            <a:ext cx="301752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Working scheduler</a:t>
            </a:r>
            <a:endParaRPr lang="en-US" sz="2000" dirty="0"/>
          </a:p>
        </p:txBody>
      </p:sp>
      <p:sp>
        <p:nvSpPr>
          <p:cNvPr id="7" name="Text 4"/>
          <p:cNvSpPr txBox="1"/>
          <p:nvPr/>
        </p:nvSpPr>
        <p:spPr>
          <a:xfrm>
            <a:off x="822960" y="3474720"/>
            <a:ext cx="3017520" cy="1920240"/>
          </a:xfrm>
          <a:prstGeom prst="rect">
            <a:avLst/>
          </a:prstGeom>
          <a:noFill/>
          <a:ln/>
        </p:spPr>
        <p:txBody>
          <a:bodyPr wrap="square" lIns="0" tIns="0" rIns="0" bIns="0" rtlCol="0" anchor="t"/>
          <a:lstStyle/>
          <a:p>
            <a:pPr indent="0" marL="0">
              <a:buNone/>
            </a:pPr>
            <a:r>
              <a:rPr lang="en-US" sz="1500" dirty="0">
                <a:solidFill>
                  <a:schemeClr val="bg1"/>
                </a:solidFill>
              </a:rPr>
              <a:t>One-shot, delayed and repeating jobs run automatically through a background daemon.</a:t>
            </a:r>
            <a:endParaRPr lang="en-US" sz="1500" dirty="0"/>
          </a:p>
        </p:txBody>
      </p:sp>
      <p:sp>
        <p:nvSpPr>
          <p:cNvPr id="8" name="Conclusion card 2"/>
          <p:cNvSpPr/>
          <p:nvPr/>
        </p:nvSpPr>
        <p:spPr>
          <a:xfrm>
            <a:off x="4306824" y="1554480"/>
            <a:ext cx="3575304" cy="4023360"/>
          </a:xfrm>
          <a:prstGeom prst="roundRect">
            <a:avLst>
              <a:gd name="adj" fmla="val 2558"/>
            </a:avLst>
          </a:prstGeom>
          <a:solidFill>
            <a:schemeClr val="accent3"/>
          </a:solidFill>
          <a:ln/>
        </p:spPr>
      </p:sp>
      <p:sp>
        <p:nvSpPr>
          <p:cNvPr id="9" name="Conclusion 2 circle"/>
          <p:cNvSpPr/>
          <p:nvPr/>
        </p:nvSpPr>
        <p:spPr>
          <a:xfrm>
            <a:off x="4581144" y="1828800"/>
            <a:ext cx="822960" cy="822960"/>
          </a:xfrm>
          <a:prstGeom prst="ellipse">
            <a:avLst/>
          </a:prstGeom>
          <a:solidFill>
            <a:schemeClr val="accent1"/>
          </a:solidFill>
          <a:ln/>
        </p:spPr>
      </p:sp>
      <p:pic>
        <p:nvPicPr>
          <p:cNvPr id="10" name="Conclusion 2 image" descr="preencoded.png">    </p:cNvPr>
          <p:cNvPicPr>
            <a:picLocks noChangeAspect="1"/>
          </p:cNvPicPr>
          <p:nvPr/>
        </p:nvPicPr>
        <p:blipFill>
          <a:blip r:embed="rId2"/>
          <a:stretch>
            <a:fillRect/>
          </a:stretch>
        </p:blipFill>
        <p:spPr>
          <a:xfrm>
            <a:off x="4795114" y="2042770"/>
            <a:ext cx="395021" cy="395021"/>
          </a:xfrm>
          <a:prstGeom prst="rect">
            <a:avLst/>
          </a:prstGeom>
        </p:spPr>
      </p:pic>
      <p:sp>
        <p:nvSpPr>
          <p:cNvPr id="11" name="Text 7"/>
          <p:cNvSpPr txBox="1"/>
          <p:nvPr/>
        </p:nvSpPr>
        <p:spPr>
          <a:xfrm>
            <a:off x="4581144" y="2880360"/>
            <a:ext cx="301752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OS concepts in practice</a:t>
            </a:r>
            <a:endParaRPr lang="en-US" sz="2000" dirty="0"/>
          </a:p>
        </p:txBody>
      </p:sp>
      <p:sp>
        <p:nvSpPr>
          <p:cNvPr id="12" name="Text 8"/>
          <p:cNvSpPr txBox="1"/>
          <p:nvPr/>
        </p:nvSpPr>
        <p:spPr>
          <a:xfrm>
            <a:off x="4581144" y="3474720"/>
            <a:ext cx="3017520" cy="1920240"/>
          </a:xfrm>
          <a:prstGeom prst="rect">
            <a:avLst/>
          </a:prstGeom>
          <a:noFill/>
          <a:ln/>
        </p:spPr>
        <p:txBody>
          <a:bodyPr wrap="square" lIns="0" tIns="0" rIns="0" bIns="0" rtlCol="0" anchor="t"/>
          <a:lstStyle/>
          <a:p>
            <a:pPr indent="0" marL="0">
              <a:buNone/>
            </a:pPr>
            <a:r>
              <a:rPr lang="en-US" sz="1500" dirty="0">
                <a:solidFill>
                  <a:schemeClr val="bg1"/>
                </a:solidFill>
              </a:rPr>
              <a:t>fork/exec, waitpid, daemons, signals, file locking and time handling in one program.</a:t>
            </a:r>
            <a:endParaRPr lang="en-US" sz="1500" dirty="0"/>
          </a:p>
        </p:txBody>
      </p:sp>
      <p:sp>
        <p:nvSpPr>
          <p:cNvPr id="13" name="Conclusion card 3"/>
          <p:cNvSpPr/>
          <p:nvPr/>
        </p:nvSpPr>
        <p:spPr>
          <a:xfrm>
            <a:off x="8065008" y="1554480"/>
            <a:ext cx="3575304" cy="4023360"/>
          </a:xfrm>
          <a:prstGeom prst="roundRect">
            <a:avLst>
              <a:gd name="adj" fmla="val 2558"/>
            </a:avLst>
          </a:prstGeom>
          <a:solidFill>
            <a:schemeClr val="accent3"/>
          </a:solidFill>
          <a:ln/>
        </p:spPr>
      </p:sp>
      <p:sp>
        <p:nvSpPr>
          <p:cNvPr id="14" name="Conclusion 3 circle"/>
          <p:cNvSpPr/>
          <p:nvPr/>
        </p:nvSpPr>
        <p:spPr>
          <a:xfrm>
            <a:off x="8339328" y="1828800"/>
            <a:ext cx="822960" cy="822960"/>
          </a:xfrm>
          <a:prstGeom prst="ellipse">
            <a:avLst/>
          </a:prstGeom>
          <a:solidFill>
            <a:schemeClr val="accent1"/>
          </a:solidFill>
          <a:ln/>
        </p:spPr>
      </p:sp>
      <p:pic>
        <p:nvPicPr>
          <p:cNvPr id="15" name="Conclusion 3 image" descr="preencoded.png">    </p:cNvPr>
          <p:cNvPicPr>
            <a:picLocks noChangeAspect="1"/>
          </p:cNvPicPr>
          <p:nvPr/>
        </p:nvPicPr>
        <p:blipFill>
          <a:blip r:embed="rId3"/>
          <a:stretch>
            <a:fillRect/>
          </a:stretch>
        </p:blipFill>
        <p:spPr>
          <a:xfrm>
            <a:off x="8553298" y="2042770"/>
            <a:ext cx="395021" cy="395021"/>
          </a:xfrm>
          <a:prstGeom prst="rect">
            <a:avLst/>
          </a:prstGeom>
        </p:spPr>
      </p:pic>
      <p:sp>
        <p:nvSpPr>
          <p:cNvPr id="16" name="Text 11"/>
          <p:cNvSpPr txBox="1"/>
          <p:nvPr/>
        </p:nvSpPr>
        <p:spPr>
          <a:xfrm>
            <a:off x="8339328" y="2880360"/>
            <a:ext cx="301752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Honest scope</a:t>
            </a:r>
            <a:endParaRPr lang="en-US" sz="2000" dirty="0"/>
          </a:p>
        </p:txBody>
      </p:sp>
      <p:sp>
        <p:nvSpPr>
          <p:cNvPr id="17" name="Text 12"/>
          <p:cNvSpPr txBox="1"/>
          <p:nvPr/>
        </p:nvSpPr>
        <p:spPr>
          <a:xfrm>
            <a:off x="8339328" y="3474720"/>
            <a:ext cx="3017520" cy="1920240"/>
          </a:xfrm>
          <a:prstGeom prst="rect">
            <a:avLst/>
          </a:prstGeom>
          <a:noFill/>
          <a:ln/>
        </p:spPr>
        <p:txBody>
          <a:bodyPr wrap="square" lIns="0" tIns="0" rIns="0" bIns="0" rtlCol="0" anchor="t"/>
          <a:lstStyle/>
          <a:p>
            <a:pPr indent="0" marL="0">
              <a:buNone/>
            </a:pPr>
            <a:r>
              <a:rPr lang="en-US" sz="1500" dirty="0">
                <a:solidFill>
                  <a:schemeClr val="bg1"/>
                </a:solidFill>
              </a:rPr>
              <a:t>A simple, readable foundation; dependencies, retries and timeouts are the next step.</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txBox="1"/>
          <p:nvPr>
            <p:ph idx="104" type="title" hasCustomPrompt="1"/>
          </p:nvPr>
        </p:nvSpPr>
        <p:spPr>
          <a:xfrm>
            <a:off x="548640" y="365760"/>
            <a:ext cx="9326880" cy="731520"/>
          </a:xfrm>
          <a:prstGeom prst="rect">
            <a:avLst/>
          </a:prstGeom>
          <a:noFill/>
          <a:ln/>
        </p:spPr>
        <p:txBody>
          <a:bodyPr wrap="square" lIns="0" tIns="0" rIns="0" bIns="0" rtlCol="0" anchor="ctr"/>
          <a:lstStyle/>
          <a:p>
            <a:pPr algn="l" indent="0" marL="0">
              <a:buNone/>
            </a:pPr>
            <a:r>
              <a:rPr lang="en-US" sz="3400" b="1" dirty="0">
                <a:solidFill>
                  <a:schemeClr val="tx2"/>
                </a:solidFill>
              </a:rPr>
              <a:t>References and Q&amp;A</a:t>
            </a:r>
            <a:endParaRPr lang="en-US" sz="3400" dirty="0"/>
          </a:p>
        </p:txBody>
      </p:sp>
      <p:sp>
        <p:nvSpPr>
          <p:cNvPr id="3" name="Text 1"/>
          <p:cNvSpPr txBox="1"/>
          <p:nvPr/>
        </p:nvSpPr>
        <p:spPr>
          <a:xfrm>
            <a:off x="548640" y="1371600"/>
            <a:ext cx="640080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References</a:t>
            </a:r>
            <a:endParaRPr lang="en-US" sz="2000" dirty="0"/>
          </a:p>
        </p:txBody>
      </p:sp>
      <p:sp>
        <p:nvSpPr>
          <p:cNvPr id="4" name="Text 2"/>
          <p:cNvSpPr txBox="1"/>
          <p:nvPr/>
        </p:nvSpPr>
        <p:spPr>
          <a:xfrm>
            <a:off x="548640" y="1920240"/>
            <a:ext cx="6400800" cy="38404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A. Silberschatz, P. B. Galvin, G. Gagne, Operating System Concepts, Wiley</a:t>
            </a:r>
            <a:endParaRPr lang="en-US" sz="1500" dirty="0"/>
          </a:p>
          <a:p>
            <a:pPr marL="342900" indent="-342900">
              <a:spcAft>
                <a:spcPts val="1000"/>
              </a:spcAft>
              <a:buSzPct val="100000"/>
              <a:buChar char="•"/>
            </a:pPr>
            <a:r>
              <a:rPr lang="en-US" sz="1500" dirty="0">
                <a:solidFill>
                  <a:schemeClr val="tx1"/>
                </a:solidFill>
              </a:rPr>
              <a:t>M. Kerrisk, The Linux Programming Interface, No Starch Press, 2010</a:t>
            </a:r>
            <a:endParaRPr lang="en-US" sz="1500" dirty="0"/>
          </a:p>
          <a:p>
            <a:pPr marL="342900" indent="-342900">
              <a:spcAft>
                <a:spcPts val="1000"/>
              </a:spcAft>
              <a:buSzPct val="100000"/>
              <a:buChar char="•"/>
            </a:pPr>
            <a:r>
              <a:rPr lang="en-US" sz="1500" dirty="0">
                <a:solidFill>
                  <a:schemeClr val="tx1"/>
                </a:solidFill>
              </a:rPr>
              <a:t>Linux manual pages: fork(2), execve(2), waitpid(2), setsid(2), flock(2), sigaction(2)</a:t>
            </a:r>
            <a:endParaRPr lang="en-US" sz="1500" dirty="0"/>
          </a:p>
          <a:p>
            <a:pPr marL="342900" indent="-342900">
              <a:spcAft>
                <a:spcPts val="1000"/>
              </a:spcAft>
              <a:buSzPct val="100000"/>
              <a:buChar char="•"/>
            </a:pPr>
            <a:r>
              <a:rPr lang="en-US" sz="1500" dirty="0">
                <a:solidFill>
                  <a:schemeClr val="tx1"/>
                </a:solidFill>
              </a:rPr>
              <a:t>Linux manual pages: cron(8), crontab(5), at(1)</a:t>
            </a:r>
            <a:endParaRPr lang="en-US" sz="1500" dirty="0"/>
          </a:p>
        </p:txBody>
      </p:sp>
      <p:sp>
        <p:nvSpPr>
          <p:cNvPr id="5" name="Q&amp;A panel"/>
          <p:cNvSpPr/>
          <p:nvPr/>
        </p:nvSpPr>
        <p:spPr>
          <a:xfrm>
            <a:off x="7498080" y="1463040"/>
            <a:ext cx="4142232" cy="4297680"/>
          </a:xfrm>
          <a:prstGeom prst="roundRect">
            <a:avLst>
              <a:gd name="adj" fmla="val 2208"/>
            </a:avLst>
          </a:prstGeom>
          <a:solidFill>
            <a:schemeClr val="tx2"/>
          </a:solidFill>
          <a:ln/>
        </p:spPr>
      </p:sp>
      <p:sp>
        <p:nvSpPr>
          <p:cNvPr id="6" name="Text 4"/>
          <p:cNvSpPr txBox="1"/>
          <p:nvPr/>
        </p:nvSpPr>
        <p:spPr>
          <a:xfrm>
            <a:off x="7498080" y="2103120"/>
            <a:ext cx="4142232" cy="914400"/>
          </a:xfrm>
          <a:prstGeom prst="rect">
            <a:avLst/>
          </a:prstGeom>
          <a:noFill/>
          <a:ln/>
        </p:spPr>
        <p:txBody>
          <a:bodyPr wrap="square" lIns="0" tIns="0" rIns="0" bIns="0" rtlCol="0" anchor="t"/>
          <a:lstStyle/>
          <a:p>
            <a:pPr algn="ctr" indent="0" marL="0">
              <a:buNone/>
            </a:pPr>
            <a:r>
              <a:rPr lang="en-US" sz="4000" b="1" dirty="0">
                <a:solidFill>
                  <a:schemeClr val="bg1"/>
                </a:solidFill>
                <a:latin typeface="Cambria" pitchFamily="34" charset="0"/>
                <a:ea typeface="Cambria" pitchFamily="34" charset="-122"/>
                <a:cs typeface="Cambria" pitchFamily="34" charset="-120"/>
              </a:rPr>
              <a:t>Questions?</a:t>
            </a:r>
            <a:endParaRPr lang="en-US" sz="4000" dirty="0"/>
          </a:p>
        </p:txBody>
      </p:sp>
      <p:sp>
        <p:nvSpPr>
          <p:cNvPr id="7" name="Text 5"/>
          <p:cNvSpPr txBox="1"/>
          <p:nvPr/>
        </p:nvSpPr>
        <p:spPr>
          <a:xfrm>
            <a:off x="7498080" y="3108960"/>
            <a:ext cx="4142232" cy="457200"/>
          </a:xfrm>
          <a:prstGeom prst="rect">
            <a:avLst/>
          </a:prstGeom>
          <a:noFill/>
          <a:ln/>
        </p:spPr>
        <p:txBody>
          <a:bodyPr wrap="square" lIns="0" tIns="0" rIns="0" bIns="0" rtlCol="0" anchor="t"/>
          <a:lstStyle/>
          <a:p>
            <a:pPr algn="ctr" indent="0" marL="0">
              <a:buNone/>
            </a:pPr>
            <a:r>
              <a:rPr lang="en-US" sz="2000" dirty="0">
                <a:solidFill>
                  <a:schemeClr val="accent2"/>
                </a:solidFill>
              </a:rPr>
              <a:t>Thank you</a:t>
            </a:r>
            <a:endParaRPr lang="en-US" sz="2000" dirty="0"/>
          </a:p>
        </p:txBody>
      </p:sp>
      <p:sp>
        <p:nvSpPr>
          <p:cNvPr id="8" name="Text 6"/>
          <p:cNvSpPr txBox="1"/>
          <p:nvPr/>
        </p:nvSpPr>
        <p:spPr>
          <a:xfrm>
            <a:off x="7498080" y="4114800"/>
            <a:ext cx="4142232" cy="365760"/>
          </a:xfrm>
          <a:prstGeom prst="rect">
            <a:avLst/>
          </a:prstGeom>
          <a:noFill/>
          <a:ln/>
        </p:spPr>
        <p:txBody>
          <a:bodyPr wrap="square" lIns="0" tIns="0" rIns="0" bIns="0" rtlCol="0" anchor="t"/>
          <a:lstStyle/>
          <a:p>
            <a:pPr algn="ctr" indent="0" marL="0">
              <a:buNone/>
            </a:pPr>
            <a:r>
              <a:rPr lang="en-US" sz="1600" dirty="0">
                <a:solidFill>
                  <a:schemeClr val="bg2"/>
                </a:solidFill>
              </a:rPr>
              <a:t>Prajwal  ·  Kavi  ·  Hemanth</a:t>
            </a:r>
            <a:endParaRPr lang="en-US" sz="1600" dirty="0"/>
          </a:p>
        </p:txBody>
      </p:sp>
      <p:sp>
        <p:nvSpPr>
          <p:cNvPr id="9" name="Text 7"/>
          <p:cNvSpPr txBox="1"/>
          <p:nvPr/>
        </p:nvSpPr>
        <p:spPr>
          <a:xfrm>
            <a:off x="7498080" y="4526280"/>
            <a:ext cx="4142232" cy="365760"/>
          </a:xfrm>
          <a:prstGeom prst="rect">
            <a:avLst/>
          </a:prstGeom>
          <a:noFill/>
          <a:ln/>
        </p:spPr>
        <p:txBody>
          <a:bodyPr wrap="square" lIns="0" tIns="0" rIns="0" bIns="0" rtlCol="0" anchor="t"/>
          <a:lstStyle/>
          <a:p>
            <a:pPr algn="ctr" indent="0" marL="0">
              <a:buNone/>
            </a:pPr>
            <a:r>
              <a:rPr lang="en-US" sz="1600" dirty="0">
                <a:solidFill>
                  <a:schemeClr val="bg2"/>
                </a:solidFill>
              </a:rPr>
              <a:t>Guide: Dr. Alekhya</a:t>
            </a:r>
            <a:endParaRPr lang="en-US" sz="1600" dirty="0"/>
          </a:p>
        </p:txBody>
      </p:sp>
    </p:spTree>
  </p:cSld>
  <p:clrMapOvr>
    <a:masterClrMapping/>
  </p:clrMapOvr>
</p:sld>
</file>

<file path=ppt/theme/theme1.xml><?xml version="1.0" encoding="utf-8"?>
<a:theme xmlns:a="http://schemas.openxmlformats.org/drawingml/2006/main" name="KLH Academic">
  <a:themeElements>
    <a:clrScheme name="KLH Academic">
      <a:dk1>
        <a:srgbClr val="1B1F2A"/>
      </a:dk1>
      <a:lt1>
        <a:srgbClr val="FFFFFF"/>
      </a:lt1>
      <a:dk2>
        <a:srgbClr val="14213D"/>
      </a:dk2>
      <a:lt2>
        <a:srgbClr val="EEF2F6"/>
      </a:lt2>
      <a:accent1>
        <a:srgbClr val="0E7C86"/>
      </a:accent1>
      <a:accent2>
        <a:srgbClr val="F4A259"/>
      </a:accent2>
      <a:accent3>
        <a:srgbClr val="3D5A80"/>
      </a:accent3>
      <a:accent4>
        <a:srgbClr val="5C6B7A"/>
      </a:accent4>
      <a:accent5>
        <a:srgbClr val="2A9D8F"/>
      </a:accent5>
      <a:accent6>
        <a:srgbClr val="C8553D"/>
      </a:accent6>
      <a:hlink>
        <a:srgbClr val="0E7C86"/>
      </a:hlink>
      <a:folHlink>
        <a:srgbClr val="5C6B7A"/>
      </a:folHlink>
    </a:clrScheme>
    <a:fontScheme name="KLH Academ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Job Scheduler and Task Automation System</dc:title>
  <dc:subject>PptxGenJS Presentation</dc:subject>
  <dc:creator>Prajwal, Kavi, Hemanth</dc:creator>
  <cp:lastModifiedBy>Prajwal, Kavi, Hemanth</cp:lastModifiedBy>
  <cp:revision>1</cp:revision>
  <dcterms:created xsi:type="dcterms:W3CDTF">2026-10-17T05:44:36Z</dcterms:created>
  <dcterms:modified xsi:type="dcterms:W3CDTF">2026-10-17T05:44:36Z</dcterms:modified>
</cp:coreProperties>
</file>